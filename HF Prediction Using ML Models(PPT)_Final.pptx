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81" r:id="rId3"/>
    <p:sldId id="259" r:id="rId4"/>
    <p:sldId id="278" r:id="rId5"/>
    <p:sldId id="279" r:id="rId6"/>
    <p:sldId id="260" r:id="rId7"/>
    <p:sldId id="261" r:id="rId8"/>
    <p:sldId id="266" r:id="rId9"/>
    <p:sldId id="293" r:id="rId10"/>
    <p:sldId id="291" r:id="rId11"/>
    <p:sldId id="262" r:id="rId12"/>
    <p:sldId id="282" r:id="rId13"/>
    <p:sldId id="268" r:id="rId14"/>
    <p:sldId id="283" r:id="rId15"/>
    <p:sldId id="269" r:id="rId16"/>
    <p:sldId id="270" r:id="rId17"/>
    <p:sldId id="292" r:id="rId18"/>
    <p:sldId id="284" r:id="rId19"/>
    <p:sldId id="285" r:id="rId20"/>
    <p:sldId id="286" r:id="rId21"/>
    <p:sldId id="287" r:id="rId22"/>
    <p:sldId id="273" r:id="rId23"/>
    <p:sldId id="288" r:id="rId24"/>
    <p:sldId id="289" r:id="rId25"/>
    <p:sldId id="274" r:id="rId26"/>
    <p:sldId id="290" r:id="rId27"/>
    <p:sldId id="275" r:id="rId28"/>
    <p:sldId id="276" r:id="rId29"/>
    <p:sldId id="277" r:id="rId30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32"/>
      <p:bold r:id="rId33"/>
      <p:italic r:id="rId34"/>
      <p:boldItalic r:id="rId35"/>
    </p:embeddedFont>
    <p:embeddedFont>
      <p:font typeface="Fira Sans Extra Condensed Medium" panose="020B0603050000020004" pitchFamily="34" charset="0"/>
      <p:regular r:id="rId36"/>
      <p:bold r:id="rId37"/>
      <p:italic r:id="rId38"/>
      <p:boldItalic r:id="rId39"/>
    </p:embeddedFont>
    <p:embeddedFont>
      <p:font typeface="Inter" panose="02000503000000020004" pitchFamily="2" charset="0"/>
      <p:regular r:id="rId40"/>
      <p:bold r:id="rId41"/>
      <p:italic r:id="rId42"/>
      <p:boldItalic r:id="rId43"/>
    </p:embeddedFont>
    <p:embeddedFont>
      <p:font typeface="Montserrat" pitchFamily="2" charset="77"/>
      <p:regular r:id="rId44"/>
      <p:bold r:id="rId45"/>
      <p:italic r:id="rId46"/>
      <p:boldItalic r:id="rId47"/>
    </p:embeddedFont>
    <p:embeddedFont>
      <p:font typeface="Montserrat SemiBold" pitchFamily="2" charset="77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hO27k/So2utvFWqCPih6pxMbgwq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d Alamin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40FF"/>
    <a:srgbClr val="00FDFF"/>
    <a:srgbClr val="003BA3"/>
    <a:srgbClr val="4A8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47" autoAdjust="0"/>
    <p:restoredTop sz="94677"/>
  </p:normalViewPr>
  <p:slideViewPr>
    <p:cSldViewPr snapToGrid="0">
      <p:cViewPr varScale="1">
        <p:scale>
          <a:sx n="127" d="100"/>
          <a:sy n="127" d="100"/>
        </p:scale>
        <p:origin x="184" y="10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customschemas.google.com/relationships/presentationmetadata" Target="meta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2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3269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1786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6821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5628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4842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9043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134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36181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6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16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5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5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713225" y="2371675"/>
            <a:ext cx="2987100" cy="1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○"/>
              <a:defRPr sz="1200"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○"/>
              <a:defRPr sz="1200"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2"/>
          </p:nvPr>
        </p:nvSpPr>
        <p:spPr>
          <a:xfrm>
            <a:off x="3962400" y="2371675"/>
            <a:ext cx="2987100" cy="1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○"/>
              <a:defRPr sz="1200"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○"/>
              <a:defRPr sz="1200"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ubTitle" idx="3"/>
          </p:nvPr>
        </p:nvSpPr>
        <p:spPr>
          <a:xfrm>
            <a:off x="713225" y="1925800"/>
            <a:ext cx="29871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ubTitle" idx="4"/>
          </p:nvPr>
        </p:nvSpPr>
        <p:spPr>
          <a:xfrm>
            <a:off x="3962400" y="1925800"/>
            <a:ext cx="29871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/>
          <p:nvPr/>
        </p:nvSpPr>
        <p:spPr>
          <a:xfrm>
            <a:off x="7520700" y="205110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0"/>
          <p:cNvSpPr/>
          <p:nvPr/>
        </p:nvSpPr>
        <p:spPr>
          <a:xfrm>
            <a:off x="6304500" y="0"/>
            <a:ext cx="1216200" cy="205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9" name="Google Shape;39;p22"/>
          <p:cNvSpPr/>
          <p:nvPr/>
        </p:nvSpPr>
        <p:spPr>
          <a:xfrm rot="5400000">
            <a:off x="6703350" y="270292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3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subTitle" idx="1"/>
          </p:nvPr>
        </p:nvSpPr>
        <p:spPr>
          <a:xfrm>
            <a:off x="1454225" y="33913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subTitle" idx="2"/>
          </p:nvPr>
        </p:nvSpPr>
        <p:spPr>
          <a:xfrm>
            <a:off x="1454225" y="37667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subTitle" idx="3"/>
          </p:nvPr>
        </p:nvSpPr>
        <p:spPr>
          <a:xfrm>
            <a:off x="5427875" y="33913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subTitle" idx="4"/>
          </p:nvPr>
        </p:nvSpPr>
        <p:spPr>
          <a:xfrm>
            <a:off x="5427875" y="37667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23"/>
          <p:cNvSpPr/>
          <p:nvPr/>
        </p:nvSpPr>
        <p:spPr>
          <a:xfrm rot="5400000">
            <a:off x="-2131350" y="2050000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858900" cy="13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7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25"/>
          <p:cNvSpPr txBox="1"/>
          <p:nvPr/>
        </p:nvSpPr>
        <p:spPr>
          <a:xfrm>
            <a:off x="713225" y="3485675"/>
            <a:ext cx="39561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1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1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100" b="1" i="0" u="none" strike="noStrike" cap="none">
                <a:solidFill>
                  <a:schemeClr val="accent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 i="0" u="none" strike="noStrike" cap="non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25"/>
          <p:cNvSpPr/>
          <p:nvPr/>
        </p:nvSpPr>
        <p:spPr>
          <a:xfrm>
            <a:off x="6711600" y="257160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5"/>
          <p:cNvSpPr/>
          <p:nvPr/>
        </p:nvSpPr>
        <p:spPr>
          <a:xfrm>
            <a:off x="792780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200"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arlow"/>
              <a:buChar char="○"/>
              <a:defRPr sz="1200"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 txBox="1">
            <a:spLocks noGrp="1"/>
          </p:cNvSpPr>
          <p:nvPr>
            <p:ph type="title"/>
          </p:nvPr>
        </p:nvSpPr>
        <p:spPr>
          <a:xfrm>
            <a:off x="713225" y="1170000"/>
            <a:ext cx="5533200" cy="28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27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7"/>
          <p:cNvSpPr/>
          <p:nvPr/>
        </p:nvSpPr>
        <p:spPr>
          <a:xfrm>
            <a:off x="7951325" y="2571750"/>
            <a:ext cx="1216200" cy="134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title"/>
          </p:nvPr>
        </p:nvSpPr>
        <p:spPr>
          <a:xfrm>
            <a:off x="713375" y="2227050"/>
            <a:ext cx="4462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subTitle" idx="1"/>
          </p:nvPr>
        </p:nvSpPr>
        <p:spPr>
          <a:xfrm>
            <a:off x="713225" y="3045375"/>
            <a:ext cx="4462500" cy="6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title" idx="2"/>
          </p:nvPr>
        </p:nvSpPr>
        <p:spPr>
          <a:xfrm>
            <a:off x="713300" y="1262325"/>
            <a:ext cx="4462500" cy="11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64" name="Google Shape;64;p28"/>
          <p:cNvSpPr/>
          <p:nvPr/>
        </p:nvSpPr>
        <p:spPr>
          <a:xfrm>
            <a:off x="5270400" y="9795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8"/>
          <p:cNvSpPr/>
          <p:nvPr/>
        </p:nvSpPr>
        <p:spPr>
          <a:xfrm>
            <a:off x="6486600" y="257190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9"/>
          <p:cNvSpPr txBox="1">
            <a:spLocks noGrp="1"/>
          </p:cNvSpPr>
          <p:nvPr>
            <p:ph type="body" idx="1"/>
          </p:nvPr>
        </p:nvSpPr>
        <p:spPr>
          <a:xfrm>
            <a:off x="713225" y="544075"/>
            <a:ext cx="4264800" cy="15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>
            <a:spLocks noGrp="1"/>
          </p:cNvSpPr>
          <p:nvPr>
            <p:ph type="title" hasCustomPrompt="1"/>
          </p:nvPr>
        </p:nvSpPr>
        <p:spPr>
          <a:xfrm>
            <a:off x="713225" y="1412150"/>
            <a:ext cx="7717500" cy="16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2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30"/>
          <p:cNvSpPr txBox="1">
            <a:spLocks noGrp="1"/>
          </p:cNvSpPr>
          <p:nvPr>
            <p:ph type="body" idx="1"/>
          </p:nvPr>
        </p:nvSpPr>
        <p:spPr>
          <a:xfrm>
            <a:off x="713400" y="3069625"/>
            <a:ext cx="7717500" cy="6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/>
          <p:nvPr/>
        </p:nvSpPr>
        <p:spPr>
          <a:xfrm rot="10800000" flipH="1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0"/>
          <p:cNvSpPr/>
          <p:nvPr/>
        </p:nvSpPr>
        <p:spPr>
          <a:xfrm rot="10800000" flipH="1">
            <a:off x="792780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1"/>
          <p:cNvSpPr txBox="1">
            <a:spLocks noGrp="1"/>
          </p:cNvSpPr>
          <p:nvPr>
            <p:ph type="title"/>
          </p:nvPr>
        </p:nvSpPr>
        <p:spPr>
          <a:xfrm>
            <a:off x="2683950" y="3273525"/>
            <a:ext cx="5757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subTitle" idx="1"/>
          </p:nvPr>
        </p:nvSpPr>
        <p:spPr>
          <a:xfrm flipH="1">
            <a:off x="2684000" y="1247225"/>
            <a:ext cx="57573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None/>
              <a:defRPr sz="28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/>
          <p:nvPr/>
        </p:nvSpPr>
        <p:spPr>
          <a:xfrm rot="10800000" flipH="1">
            <a:off x="1216200" y="2571750"/>
            <a:ext cx="1216200" cy="257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1"/>
          <p:cNvSpPr/>
          <p:nvPr/>
        </p:nvSpPr>
        <p:spPr>
          <a:xfrm rot="10800000" flipH="1">
            <a:off x="0" y="1061825"/>
            <a:ext cx="1216200" cy="150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ctrTitle" idx="2"/>
          </p:nvPr>
        </p:nvSpPr>
        <p:spPr>
          <a:xfrm>
            <a:off x="2310350" y="1446813"/>
            <a:ext cx="2150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title" idx="3"/>
          </p:nvPr>
        </p:nvSpPr>
        <p:spPr>
          <a:xfrm>
            <a:off x="717800" y="1521025"/>
            <a:ext cx="14934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7000">
                <a:solidFill>
                  <a:srgbClr val="4A8C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subTitle" idx="1"/>
          </p:nvPr>
        </p:nvSpPr>
        <p:spPr>
          <a:xfrm>
            <a:off x="2310350" y="1858875"/>
            <a:ext cx="21504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ctrTitle" idx="4"/>
          </p:nvPr>
        </p:nvSpPr>
        <p:spPr>
          <a:xfrm>
            <a:off x="6233050" y="1446813"/>
            <a:ext cx="2150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title" idx="5"/>
          </p:nvPr>
        </p:nvSpPr>
        <p:spPr>
          <a:xfrm>
            <a:off x="4686400" y="1521025"/>
            <a:ext cx="14934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7000">
                <a:solidFill>
                  <a:srgbClr val="4A8C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85" name="Google Shape;85;p32"/>
          <p:cNvSpPr txBox="1">
            <a:spLocks noGrp="1"/>
          </p:cNvSpPr>
          <p:nvPr>
            <p:ph type="subTitle" idx="6"/>
          </p:nvPr>
        </p:nvSpPr>
        <p:spPr>
          <a:xfrm>
            <a:off x="6275800" y="1858878"/>
            <a:ext cx="21504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6" name="Google Shape;86;p32"/>
          <p:cNvSpPr txBox="1">
            <a:spLocks noGrp="1"/>
          </p:cNvSpPr>
          <p:nvPr>
            <p:ph type="ctrTitle" idx="7"/>
          </p:nvPr>
        </p:nvSpPr>
        <p:spPr>
          <a:xfrm>
            <a:off x="2310350" y="2868777"/>
            <a:ext cx="2150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7" name="Google Shape;87;p32"/>
          <p:cNvSpPr txBox="1">
            <a:spLocks noGrp="1"/>
          </p:cNvSpPr>
          <p:nvPr>
            <p:ph type="title" idx="8"/>
          </p:nvPr>
        </p:nvSpPr>
        <p:spPr>
          <a:xfrm>
            <a:off x="717800" y="2960450"/>
            <a:ext cx="14934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7000">
                <a:solidFill>
                  <a:srgbClr val="4A8C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88" name="Google Shape;88;p32"/>
          <p:cNvSpPr txBox="1">
            <a:spLocks noGrp="1"/>
          </p:cNvSpPr>
          <p:nvPr>
            <p:ph type="subTitle" idx="9"/>
          </p:nvPr>
        </p:nvSpPr>
        <p:spPr>
          <a:xfrm>
            <a:off x="2310350" y="3298325"/>
            <a:ext cx="21504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9" name="Google Shape;89;p32"/>
          <p:cNvSpPr txBox="1">
            <a:spLocks noGrp="1"/>
          </p:cNvSpPr>
          <p:nvPr>
            <p:ph type="ctrTitle" idx="13"/>
          </p:nvPr>
        </p:nvSpPr>
        <p:spPr>
          <a:xfrm>
            <a:off x="6275650" y="2868775"/>
            <a:ext cx="2150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0" name="Google Shape;90;p32"/>
          <p:cNvSpPr txBox="1">
            <a:spLocks noGrp="1"/>
          </p:cNvSpPr>
          <p:nvPr>
            <p:ph type="title" idx="14"/>
          </p:nvPr>
        </p:nvSpPr>
        <p:spPr>
          <a:xfrm>
            <a:off x="4686400" y="2960450"/>
            <a:ext cx="14934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7000">
                <a:solidFill>
                  <a:srgbClr val="4A8C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91" name="Google Shape;91;p32"/>
          <p:cNvSpPr txBox="1">
            <a:spLocks noGrp="1"/>
          </p:cNvSpPr>
          <p:nvPr>
            <p:ph type="subTitle" idx="15"/>
          </p:nvPr>
        </p:nvSpPr>
        <p:spPr>
          <a:xfrm>
            <a:off x="6275800" y="3298325"/>
            <a:ext cx="21504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2" name="Google Shape;92;p32"/>
          <p:cNvSpPr/>
          <p:nvPr/>
        </p:nvSpPr>
        <p:spPr>
          <a:xfrm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2"/>
          <p:cNvSpPr/>
          <p:nvPr/>
        </p:nvSpPr>
        <p:spPr>
          <a:xfrm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5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3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6" name="Google Shape;96;p33"/>
          <p:cNvSpPr txBox="1">
            <a:spLocks noGrp="1"/>
          </p:cNvSpPr>
          <p:nvPr>
            <p:ph type="subTitle" idx="1"/>
          </p:nvPr>
        </p:nvSpPr>
        <p:spPr>
          <a:xfrm>
            <a:off x="1098800" y="3775200"/>
            <a:ext cx="28131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33"/>
          <p:cNvSpPr txBox="1">
            <a:spLocks noGrp="1"/>
          </p:cNvSpPr>
          <p:nvPr>
            <p:ph type="subTitle" idx="2"/>
          </p:nvPr>
        </p:nvSpPr>
        <p:spPr>
          <a:xfrm>
            <a:off x="1098800" y="3051300"/>
            <a:ext cx="28131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33"/>
          <p:cNvSpPr txBox="1">
            <a:spLocks noGrp="1"/>
          </p:cNvSpPr>
          <p:nvPr>
            <p:ph type="subTitle" idx="3"/>
          </p:nvPr>
        </p:nvSpPr>
        <p:spPr>
          <a:xfrm>
            <a:off x="1098800" y="2315550"/>
            <a:ext cx="28131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33"/>
          <p:cNvSpPr txBox="1">
            <a:spLocks noGrp="1"/>
          </p:cNvSpPr>
          <p:nvPr>
            <p:ph type="subTitle" idx="4"/>
          </p:nvPr>
        </p:nvSpPr>
        <p:spPr>
          <a:xfrm>
            <a:off x="1098800" y="1591650"/>
            <a:ext cx="28131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33"/>
          <p:cNvSpPr/>
          <p:nvPr/>
        </p:nvSpPr>
        <p:spPr>
          <a:xfrm rot="10800000" flipH="1">
            <a:off x="5416200" y="1010100"/>
            <a:ext cx="1216200" cy="156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3"/>
          <p:cNvSpPr/>
          <p:nvPr/>
        </p:nvSpPr>
        <p:spPr>
          <a:xfrm rot="10800000" flipH="1">
            <a:off x="6632400" y="2571600"/>
            <a:ext cx="1216200" cy="25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4" name="Google Shape;104;p34"/>
          <p:cNvSpPr txBox="1">
            <a:spLocks noGrp="1"/>
          </p:cNvSpPr>
          <p:nvPr>
            <p:ph type="subTitle" idx="1"/>
          </p:nvPr>
        </p:nvSpPr>
        <p:spPr>
          <a:xfrm>
            <a:off x="788100" y="23904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4"/>
          <p:cNvSpPr txBox="1">
            <a:spLocks noGrp="1"/>
          </p:cNvSpPr>
          <p:nvPr>
            <p:ph type="subTitle" idx="2"/>
          </p:nvPr>
        </p:nvSpPr>
        <p:spPr>
          <a:xfrm>
            <a:off x="788100" y="27658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34"/>
          <p:cNvSpPr txBox="1">
            <a:spLocks noGrp="1"/>
          </p:cNvSpPr>
          <p:nvPr>
            <p:ph type="subTitle" idx="3"/>
          </p:nvPr>
        </p:nvSpPr>
        <p:spPr>
          <a:xfrm>
            <a:off x="3441150" y="23904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subTitle" idx="4"/>
          </p:nvPr>
        </p:nvSpPr>
        <p:spPr>
          <a:xfrm>
            <a:off x="3441150" y="27658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34"/>
          <p:cNvSpPr txBox="1">
            <a:spLocks noGrp="1"/>
          </p:cNvSpPr>
          <p:nvPr>
            <p:ph type="subTitle" idx="5"/>
          </p:nvPr>
        </p:nvSpPr>
        <p:spPr>
          <a:xfrm>
            <a:off x="6094200" y="23904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34"/>
          <p:cNvSpPr txBox="1">
            <a:spLocks noGrp="1"/>
          </p:cNvSpPr>
          <p:nvPr>
            <p:ph type="subTitle" idx="6"/>
          </p:nvPr>
        </p:nvSpPr>
        <p:spPr>
          <a:xfrm>
            <a:off x="6094200" y="27658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34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4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3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5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4" name="Google Shape;114;p35"/>
          <p:cNvSpPr txBox="1">
            <a:spLocks noGrp="1"/>
          </p:cNvSpPr>
          <p:nvPr>
            <p:ph type="subTitle" idx="1"/>
          </p:nvPr>
        </p:nvSpPr>
        <p:spPr>
          <a:xfrm>
            <a:off x="1878275" y="1251675"/>
            <a:ext cx="27876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35"/>
          <p:cNvSpPr txBox="1">
            <a:spLocks noGrp="1"/>
          </p:cNvSpPr>
          <p:nvPr>
            <p:ph type="subTitle" idx="2"/>
          </p:nvPr>
        </p:nvSpPr>
        <p:spPr>
          <a:xfrm>
            <a:off x="1878275" y="1744345"/>
            <a:ext cx="27876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35"/>
          <p:cNvSpPr txBox="1">
            <a:spLocks noGrp="1"/>
          </p:cNvSpPr>
          <p:nvPr>
            <p:ph type="subTitle" idx="3"/>
          </p:nvPr>
        </p:nvSpPr>
        <p:spPr>
          <a:xfrm>
            <a:off x="5351497" y="1251675"/>
            <a:ext cx="27876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35"/>
          <p:cNvSpPr txBox="1">
            <a:spLocks noGrp="1"/>
          </p:cNvSpPr>
          <p:nvPr>
            <p:ph type="subTitle" idx="4"/>
          </p:nvPr>
        </p:nvSpPr>
        <p:spPr>
          <a:xfrm>
            <a:off x="5351493" y="1744282"/>
            <a:ext cx="27876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35"/>
          <p:cNvSpPr txBox="1">
            <a:spLocks noGrp="1"/>
          </p:cNvSpPr>
          <p:nvPr>
            <p:ph type="subTitle" idx="5"/>
          </p:nvPr>
        </p:nvSpPr>
        <p:spPr>
          <a:xfrm>
            <a:off x="1878275" y="2898148"/>
            <a:ext cx="27876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35"/>
          <p:cNvSpPr txBox="1">
            <a:spLocks noGrp="1"/>
          </p:cNvSpPr>
          <p:nvPr>
            <p:ph type="subTitle" idx="6"/>
          </p:nvPr>
        </p:nvSpPr>
        <p:spPr>
          <a:xfrm>
            <a:off x="1878275" y="3390754"/>
            <a:ext cx="27876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35"/>
          <p:cNvSpPr txBox="1">
            <a:spLocks noGrp="1"/>
          </p:cNvSpPr>
          <p:nvPr>
            <p:ph type="subTitle" idx="7"/>
          </p:nvPr>
        </p:nvSpPr>
        <p:spPr>
          <a:xfrm>
            <a:off x="5351425" y="2898156"/>
            <a:ext cx="27876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35"/>
          <p:cNvSpPr txBox="1">
            <a:spLocks noGrp="1"/>
          </p:cNvSpPr>
          <p:nvPr>
            <p:ph type="subTitle" idx="8"/>
          </p:nvPr>
        </p:nvSpPr>
        <p:spPr>
          <a:xfrm>
            <a:off x="5351425" y="3390754"/>
            <a:ext cx="27876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35"/>
          <p:cNvSpPr txBox="1">
            <a:spLocks noGrp="1"/>
          </p:cNvSpPr>
          <p:nvPr>
            <p:ph type="subTitle" idx="9"/>
          </p:nvPr>
        </p:nvSpPr>
        <p:spPr>
          <a:xfrm rot="-5400803">
            <a:off x="609009" y="1779468"/>
            <a:ext cx="128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23" name="Google Shape;123;p35"/>
          <p:cNvSpPr txBox="1">
            <a:spLocks noGrp="1"/>
          </p:cNvSpPr>
          <p:nvPr>
            <p:ph type="subTitle" idx="13"/>
          </p:nvPr>
        </p:nvSpPr>
        <p:spPr>
          <a:xfrm rot="-5400000">
            <a:off x="609075" y="3422400"/>
            <a:ext cx="128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4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6"/>
          <p:cNvSpPr txBox="1">
            <a:spLocks noGrp="1"/>
          </p:cNvSpPr>
          <p:nvPr>
            <p:ph type="subTitle" idx="1"/>
          </p:nvPr>
        </p:nvSpPr>
        <p:spPr>
          <a:xfrm>
            <a:off x="5951340" y="1570850"/>
            <a:ext cx="24795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36"/>
          <p:cNvSpPr txBox="1">
            <a:spLocks noGrp="1"/>
          </p:cNvSpPr>
          <p:nvPr>
            <p:ph type="subTitle" idx="2"/>
          </p:nvPr>
        </p:nvSpPr>
        <p:spPr>
          <a:xfrm>
            <a:off x="5951336" y="1941975"/>
            <a:ext cx="247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36"/>
          <p:cNvSpPr txBox="1">
            <a:spLocks noGrp="1"/>
          </p:cNvSpPr>
          <p:nvPr>
            <p:ph type="subTitle" idx="3"/>
          </p:nvPr>
        </p:nvSpPr>
        <p:spPr>
          <a:xfrm>
            <a:off x="5951276" y="3064926"/>
            <a:ext cx="24795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36"/>
          <p:cNvSpPr txBox="1">
            <a:spLocks noGrp="1"/>
          </p:cNvSpPr>
          <p:nvPr>
            <p:ph type="subTitle" idx="4"/>
          </p:nvPr>
        </p:nvSpPr>
        <p:spPr>
          <a:xfrm>
            <a:off x="5951276" y="3436049"/>
            <a:ext cx="247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36"/>
          <p:cNvSpPr txBox="1">
            <a:spLocks noGrp="1"/>
          </p:cNvSpPr>
          <p:nvPr>
            <p:ph type="subTitle" idx="5"/>
          </p:nvPr>
        </p:nvSpPr>
        <p:spPr>
          <a:xfrm>
            <a:off x="3156090" y="1570850"/>
            <a:ext cx="24795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36"/>
          <p:cNvSpPr txBox="1">
            <a:spLocks noGrp="1"/>
          </p:cNvSpPr>
          <p:nvPr>
            <p:ph type="subTitle" idx="6"/>
          </p:nvPr>
        </p:nvSpPr>
        <p:spPr>
          <a:xfrm>
            <a:off x="3156036" y="1941975"/>
            <a:ext cx="247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36"/>
          <p:cNvSpPr txBox="1">
            <a:spLocks noGrp="1"/>
          </p:cNvSpPr>
          <p:nvPr>
            <p:ph type="subTitle" idx="7"/>
          </p:nvPr>
        </p:nvSpPr>
        <p:spPr>
          <a:xfrm>
            <a:off x="3156026" y="3064926"/>
            <a:ext cx="24795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36"/>
          <p:cNvSpPr txBox="1">
            <a:spLocks noGrp="1"/>
          </p:cNvSpPr>
          <p:nvPr>
            <p:ph type="subTitle" idx="8"/>
          </p:nvPr>
        </p:nvSpPr>
        <p:spPr>
          <a:xfrm>
            <a:off x="3155976" y="3436049"/>
            <a:ext cx="247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36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4" name="Google Shape;134;p36"/>
          <p:cNvSpPr/>
          <p:nvPr/>
        </p:nvSpPr>
        <p:spPr>
          <a:xfrm rot="10800000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6"/>
          <p:cNvSpPr/>
          <p:nvPr/>
        </p:nvSpPr>
        <p:spPr>
          <a:xfrm rot="10800000">
            <a:off x="1216200" y="1061825"/>
            <a:ext cx="1216200" cy="15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CUSTOM_10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7"/>
          <p:cNvSpPr txBox="1">
            <a:spLocks noGrp="1"/>
          </p:cNvSpPr>
          <p:nvPr>
            <p:ph type="title"/>
          </p:nvPr>
        </p:nvSpPr>
        <p:spPr>
          <a:xfrm>
            <a:off x="3730075" y="1631700"/>
            <a:ext cx="4700700" cy="10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7"/>
          <p:cNvSpPr txBox="1">
            <a:spLocks noGrp="1"/>
          </p:cNvSpPr>
          <p:nvPr>
            <p:ph type="subTitle" idx="1"/>
          </p:nvPr>
        </p:nvSpPr>
        <p:spPr>
          <a:xfrm>
            <a:off x="3730075" y="2726700"/>
            <a:ext cx="47007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7"/>
          <p:cNvSpPr/>
          <p:nvPr/>
        </p:nvSpPr>
        <p:spPr>
          <a:xfrm rot="10800000" flipH="1">
            <a:off x="2110925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7"/>
          <p:cNvSpPr/>
          <p:nvPr/>
        </p:nvSpPr>
        <p:spPr>
          <a:xfrm rot="10800000" flipH="1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8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5" name="Google Shape;145;p39"/>
          <p:cNvSpPr txBox="1">
            <a:spLocks noGrp="1"/>
          </p:cNvSpPr>
          <p:nvPr>
            <p:ph type="subTitle" idx="1"/>
          </p:nvPr>
        </p:nvSpPr>
        <p:spPr>
          <a:xfrm>
            <a:off x="717800" y="1255775"/>
            <a:ext cx="4631700" cy="3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39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0"/>
          <p:cNvSpPr txBox="1">
            <a:spLocks noGrp="1"/>
          </p:cNvSpPr>
          <p:nvPr>
            <p:ph type="title"/>
          </p:nvPr>
        </p:nvSpPr>
        <p:spPr>
          <a:xfrm>
            <a:off x="750975" y="2819150"/>
            <a:ext cx="21642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49" name="Google Shape;149;p40"/>
          <p:cNvSpPr txBox="1">
            <a:spLocks noGrp="1"/>
          </p:cNvSpPr>
          <p:nvPr>
            <p:ph type="subTitle" idx="1"/>
          </p:nvPr>
        </p:nvSpPr>
        <p:spPr>
          <a:xfrm>
            <a:off x="750975" y="3390050"/>
            <a:ext cx="21642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40"/>
          <p:cNvSpPr txBox="1">
            <a:spLocks noGrp="1"/>
          </p:cNvSpPr>
          <p:nvPr>
            <p:ph type="title" idx="2"/>
          </p:nvPr>
        </p:nvSpPr>
        <p:spPr>
          <a:xfrm>
            <a:off x="3508587" y="2819150"/>
            <a:ext cx="21642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51" name="Google Shape;151;p40"/>
          <p:cNvSpPr txBox="1">
            <a:spLocks noGrp="1"/>
          </p:cNvSpPr>
          <p:nvPr>
            <p:ph type="subTitle" idx="3"/>
          </p:nvPr>
        </p:nvSpPr>
        <p:spPr>
          <a:xfrm>
            <a:off x="3508587" y="3390050"/>
            <a:ext cx="21642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40"/>
          <p:cNvSpPr txBox="1">
            <a:spLocks noGrp="1"/>
          </p:cNvSpPr>
          <p:nvPr>
            <p:ph type="title" idx="4"/>
          </p:nvPr>
        </p:nvSpPr>
        <p:spPr>
          <a:xfrm>
            <a:off x="717800" y="383175"/>
            <a:ext cx="77082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3" name="Google Shape;153;p40"/>
          <p:cNvSpPr txBox="1">
            <a:spLocks noGrp="1"/>
          </p:cNvSpPr>
          <p:nvPr>
            <p:ph type="title" idx="5"/>
          </p:nvPr>
        </p:nvSpPr>
        <p:spPr>
          <a:xfrm>
            <a:off x="6216100" y="2819150"/>
            <a:ext cx="21642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54" name="Google Shape;154;p40"/>
          <p:cNvSpPr txBox="1">
            <a:spLocks noGrp="1"/>
          </p:cNvSpPr>
          <p:nvPr>
            <p:ph type="subTitle" idx="6"/>
          </p:nvPr>
        </p:nvSpPr>
        <p:spPr>
          <a:xfrm>
            <a:off x="6216100" y="3390050"/>
            <a:ext cx="21642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40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0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2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1"/>
          <p:cNvSpPr txBox="1">
            <a:spLocks noGrp="1"/>
          </p:cNvSpPr>
          <p:nvPr>
            <p:ph type="subTitle" idx="1"/>
          </p:nvPr>
        </p:nvSpPr>
        <p:spPr>
          <a:xfrm>
            <a:off x="711900" y="14760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41"/>
          <p:cNvSpPr txBox="1">
            <a:spLocks noGrp="1"/>
          </p:cNvSpPr>
          <p:nvPr>
            <p:ph type="subTitle" idx="2"/>
          </p:nvPr>
        </p:nvSpPr>
        <p:spPr>
          <a:xfrm>
            <a:off x="711900" y="18514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41"/>
          <p:cNvSpPr txBox="1">
            <a:spLocks noGrp="1"/>
          </p:cNvSpPr>
          <p:nvPr>
            <p:ph type="subTitle" idx="3"/>
          </p:nvPr>
        </p:nvSpPr>
        <p:spPr>
          <a:xfrm>
            <a:off x="2983950" y="14760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41"/>
          <p:cNvSpPr txBox="1">
            <a:spLocks noGrp="1"/>
          </p:cNvSpPr>
          <p:nvPr>
            <p:ph type="subTitle" idx="4"/>
          </p:nvPr>
        </p:nvSpPr>
        <p:spPr>
          <a:xfrm>
            <a:off x="2983950" y="18514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41"/>
          <p:cNvSpPr txBox="1">
            <a:spLocks noGrp="1"/>
          </p:cNvSpPr>
          <p:nvPr>
            <p:ph type="subTitle" idx="5"/>
          </p:nvPr>
        </p:nvSpPr>
        <p:spPr>
          <a:xfrm>
            <a:off x="5256000" y="14760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41"/>
          <p:cNvSpPr txBox="1">
            <a:spLocks noGrp="1"/>
          </p:cNvSpPr>
          <p:nvPr>
            <p:ph type="subTitle" idx="6"/>
          </p:nvPr>
        </p:nvSpPr>
        <p:spPr>
          <a:xfrm>
            <a:off x="5256000" y="18514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41"/>
          <p:cNvSpPr txBox="1">
            <a:spLocks noGrp="1"/>
          </p:cNvSpPr>
          <p:nvPr>
            <p:ph type="subTitle" idx="7"/>
          </p:nvPr>
        </p:nvSpPr>
        <p:spPr>
          <a:xfrm>
            <a:off x="711900" y="29522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41"/>
          <p:cNvSpPr txBox="1">
            <a:spLocks noGrp="1"/>
          </p:cNvSpPr>
          <p:nvPr>
            <p:ph type="subTitle" idx="8"/>
          </p:nvPr>
        </p:nvSpPr>
        <p:spPr>
          <a:xfrm>
            <a:off x="711900" y="33276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41"/>
          <p:cNvSpPr txBox="1">
            <a:spLocks noGrp="1"/>
          </p:cNvSpPr>
          <p:nvPr>
            <p:ph type="subTitle" idx="9"/>
          </p:nvPr>
        </p:nvSpPr>
        <p:spPr>
          <a:xfrm>
            <a:off x="2983950" y="29522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41"/>
          <p:cNvSpPr txBox="1">
            <a:spLocks noGrp="1"/>
          </p:cNvSpPr>
          <p:nvPr>
            <p:ph type="subTitle" idx="13"/>
          </p:nvPr>
        </p:nvSpPr>
        <p:spPr>
          <a:xfrm>
            <a:off x="2983950" y="33276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41"/>
          <p:cNvSpPr txBox="1">
            <a:spLocks noGrp="1"/>
          </p:cNvSpPr>
          <p:nvPr>
            <p:ph type="subTitle" idx="14"/>
          </p:nvPr>
        </p:nvSpPr>
        <p:spPr>
          <a:xfrm>
            <a:off x="5256000" y="29522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41"/>
          <p:cNvSpPr txBox="1">
            <a:spLocks noGrp="1"/>
          </p:cNvSpPr>
          <p:nvPr>
            <p:ph type="subTitle" idx="15"/>
          </p:nvPr>
        </p:nvSpPr>
        <p:spPr>
          <a:xfrm>
            <a:off x="5256000" y="33276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41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1" name="Google Shape;171;p41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1"/>
          <p:cNvSpPr/>
          <p:nvPr/>
        </p:nvSpPr>
        <p:spPr>
          <a:xfrm>
            <a:off x="792780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mailto:md.alamin06@northsouth.edu" TargetMode="External"/><Relationship Id="rId4" Type="http://schemas.openxmlformats.org/officeDocument/2006/relationships/hyperlink" Target="mailto:shishir.oyshi@northsouth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amilydoctor.org/condition/heart-failur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hlbi.nih.gov/health/heart/anatom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amy.com/stock-photo-llustration-comparing-a-normal-heat-left-to-a-diseased-heart-undergoing-103991720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2911-020-1023-5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semanticscholar.org/paper/International-application-of-a-new-probability-for-Detrano-J%C3%A1nosi/a7d714f8f87bfc41351eb5ae1e5472f0ebbe0574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2"/>
          <p:cNvSpPr txBox="1">
            <a:spLocks noGrp="1"/>
          </p:cNvSpPr>
          <p:nvPr>
            <p:ph type="ctrTitle"/>
          </p:nvPr>
        </p:nvSpPr>
        <p:spPr>
          <a:xfrm>
            <a:off x="1024170" y="2133088"/>
            <a:ext cx="716338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br>
              <a:rPr lang="en" sz="2000" dirty="0">
                <a:solidFill>
                  <a:srgbClr val="FF0000"/>
                </a:solidFill>
              </a:rPr>
            </a:br>
            <a:br>
              <a:rPr lang="en" sz="2000" dirty="0">
                <a:solidFill>
                  <a:srgbClr val="FF0000"/>
                </a:solidFill>
              </a:rPr>
            </a:br>
            <a:br>
              <a:rPr lang="en" sz="2000" dirty="0">
                <a:solidFill>
                  <a:srgbClr val="FF0000"/>
                </a:solidFill>
              </a:rPr>
            </a:br>
            <a:br>
              <a:rPr lang="en" sz="2000" dirty="0">
                <a:solidFill>
                  <a:srgbClr val="FF0000"/>
                </a:solidFill>
              </a:rPr>
            </a:br>
            <a:br>
              <a:rPr lang="en" sz="2000" dirty="0">
                <a:solidFill>
                  <a:srgbClr val="FF0000"/>
                </a:solidFill>
              </a:rPr>
            </a:br>
            <a:br>
              <a:rPr lang="en" sz="2000" dirty="0">
                <a:solidFill>
                  <a:srgbClr val="FF0000"/>
                </a:solidFill>
              </a:rPr>
            </a:br>
            <a:br>
              <a:rPr lang="en" sz="2000" dirty="0">
                <a:solidFill>
                  <a:srgbClr val="FF0000"/>
                </a:solidFill>
              </a:rPr>
            </a:br>
            <a:br>
              <a:rPr lang="en" sz="2000" dirty="0">
                <a:solidFill>
                  <a:srgbClr val="FF0000"/>
                </a:solidFill>
              </a:rPr>
            </a:br>
            <a:br>
              <a:rPr lang="en" sz="2000" dirty="0">
                <a:solidFill>
                  <a:srgbClr val="FF0000"/>
                </a:solidFill>
              </a:rPr>
            </a:br>
            <a:r>
              <a:rPr lang="en" sz="2000" dirty="0">
                <a:solidFill>
                  <a:srgbClr val="FF0000"/>
                </a:solidFill>
              </a:rPr>
              <a:t>Presentation on</a:t>
            </a:r>
            <a:br>
              <a:rPr lang="en" sz="3200" dirty="0">
                <a:solidFill>
                  <a:schemeClr val="accent1"/>
                </a:solidFill>
              </a:rPr>
            </a:br>
            <a:r>
              <a:rPr lang="en" sz="3200" dirty="0">
                <a:solidFill>
                  <a:schemeClr val="accent1"/>
                </a:solidFill>
              </a:rPr>
              <a:t> </a:t>
            </a:r>
            <a:r>
              <a:rPr lang="en" sz="2000" dirty="0">
                <a:solidFill>
                  <a:schemeClr val="accent1"/>
                </a:solidFill>
              </a:rPr>
              <a:t>“</a:t>
            </a:r>
            <a:r>
              <a:rPr lang="en" sz="2000" i="1" dirty="0">
                <a:solidFill>
                  <a:schemeClr val="accent1"/>
                </a:solidFill>
              </a:rPr>
              <a:t>Heart Failure Prediction</a:t>
            </a:r>
            <a:br>
              <a:rPr lang="en" sz="2000" i="1" dirty="0">
                <a:solidFill>
                  <a:schemeClr val="accent1"/>
                </a:solidFill>
              </a:rPr>
            </a:br>
            <a:r>
              <a:rPr lang="en" sz="2000" i="1" dirty="0">
                <a:solidFill>
                  <a:schemeClr val="accent1"/>
                </a:solidFill>
              </a:rPr>
              <a:t>Using Machine Learning Models: A Comparative Study of Multiple Algorithms</a:t>
            </a:r>
            <a:r>
              <a:rPr lang="en" sz="2000" dirty="0">
                <a:solidFill>
                  <a:schemeClr val="accent1"/>
                </a:solidFill>
              </a:rPr>
              <a:t>” [ID0132]</a:t>
            </a:r>
            <a:br>
              <a:rPr lang="en" sz="2000" dirty="0">
                <a:solidFill>
                  <a:schemeClr val="accent1"/>
                </a:solidFill>
              </a:rPr>
            </a:br>
            <a:br>
              <a:rPr lang="en" sz="3200" dirty="0">
                <a:solidFill>
                  <a:schemeClr val="accent1"/>
                </a:solidFill>
              </a:rPr>
            </a:br>
            <a:br>
              <a:rPr lang="en" sz="3200" dirty="0">
                <a:solidFill>
                  <a:schemeClr val="accent1"/>
                </a:solidFill>
              </a:rPr>
            </a:br>
            <a:r>
              <a:rPr lang="en" sz="3200" dirty="0">
                <a:solidFill>
                  <a:schemeClr val="accent1"/>
                </a:solidFill>
              </a:rPr>
              <a:t> </a:t>
            </a:r>
            <a:endParaRPr sz="3200" dirty="0">
              <a:solidFill>
                <a:srgbClr val="4A8CFF"/>
              </a:solidFill>
            </a:endParaRPr>
          </a:p>
        </p:txBody>
      </p:sp>
      <p:sp>
        <p:nvSpPr>
          <p:cNvPr id="178" name="Google Shape;178;p42"/>
          <p:cNvSpPr/>
          <p:nvPr/>
        </p:nvSpPr>
        <p:spPr>
          <a:xfrm>
            <a:off x="0" y="-1"/>
            <a:ext cx="1381200" cy="272702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42"/>
          <p:cNvSpPr txBox="1"/>
          <p:nvPr/>
        </p:nvSpPr>
        <p:spPr>
          <a:xfrm>
            <a:off x="1398196" y="257229"/>
            <a:ext cx="6362447" cy="64629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37A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" sz="1800" b="1" i="0" u="none" strike="noStrike" cap="none" baseline="3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" sz="18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International Conference on </a:t>
            </a:r>
            <a:br>
              <a:rPr lang="en" sz="18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" sz="1800" b="1" i="1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Role of Statistics and Data Science in 4IR (ICRSDS4IR)</a:t>
            </a:r>
            <a:r>
              <a:rPr lang="en" sz="1800" b="1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1800" dirty="0"/>
          </a:p>
        </p:txBody>
      </p:sp>
      <p:pic>
        <p:nvPicPr>
          <p:cNvPr id="180" name="Google Shape;18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17" y="-4850"/>
            <a:ext cx="1287906" cy="128413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2"/>
          <p:cNvSpPr txBox="1">
            <a:spLocks noGrp="1"/>
          </p:cNvSpPr>
          <p:nvPr>
            <p:ph type="subTitle" idx="1"/>
          </p:nvPr>
        </p:nvSpPr>
        <p:spPr>
          <a:xfrm>
            <a:off x="497965" y="2967916"/>
            <a:ext cx="4390945" cy="5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b="1" dirty="0">
                <a:solidFill>
                  <a:srgbClr val="FF40FF"/>
                </a:solidFill>
              </a:rPr>
              <a:t>Presented by: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b="1" dirty="0"/>
              <a:t>Shishir Oyshi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 dirty="0"/>
              <a:t>Bachelor of Computer Science and Engineering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 dirty="0"/>
              <a:t>Department of Electrical &amp; Computer Engineering, SEPS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 dirty="0"/>
              <a:t>North South University, Dhaka-1229, Bangladesh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 b="1" dirty="0"/>
              <a:t>Email: </a:t>
            </a:r>
            <a:r>
              <a:rPr lang="en" sz="1100" u="sng" dirty="0">
                <a:solidFill>
                  <a:schemeClr val="hlink"/>
                </a:solidFill>
                <a:hlinkClick r:id="rId4"/>
              </a:rPr>
              <a:t>shishir.oyshi@northsouth.edu</a:t>
            </a:r>
            <a:endParaRPr sz="1100" b="1" u="sng" dirty="0"/>
          </a:p>
          <a:p>
            <a:pPr marL="45720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 </a:t>
            </a:r>
            <a:endParaRPr dirty="0"/>
          </a:p>
          <a:p>
            <a:pPr marL="45720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182" name="Google Shape;182;p42"/>
          <p:cNvSpPr/>
          <p:nvPr/>
        </p:nvSpPr>
        <p:spPr>
          <a:xfrm>
            <a:off x="5094374" y="3009721"/>
            <a:ext cx="3932668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Supervised by: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Dr. Md. Alamin</a:t>
            </a:r>
            <a:endParaRPr dirty="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Assistant Professor</a:t>
            </a:r>
            <a:endParaRPr dirty="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Department of Mathematics &amp; Physics, SEPS</a:t>
            </a:r>
            <a:endParaRPr dirty="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North South University, Dhaka-1229, Bangladesh</a:t>
            </a:r>
            <a:endParaRPr dirty="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Email: </a:t>
            </a:r>
            <a:r>
              <a:rPr lang="en" sz="1100" b="0" i="0" u="sng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md.alamin06@northsouth.edu</a:t>
            </a:r>
            <a:r>
              <a:rPr lang="en" sz="1100" b="0" i="0" u="none" strike="noStrike" cap="none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pic>
        <p:nvPicPr>
          <p:cNvPr id="183" name="Google Shape;183;p4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30520" y="2852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2"/>
          <p:cNvSpPr txBox="1"/>
          <p:nvPr/>
        </p:nvSpPr>
        <p:spPr>
          <a:xfrm>
            <a:off x="3577611" y="4754585"/>
            <a:ext cx="247924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Date: 26</a:t>
            </a:r>
            <a:r>
              <a:rPr lang="en" sz="1400" b="1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December 2024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97;p44"/>
          <p:cNvSpPr txBox="1">
            <a:spLocks/>
          </p:cNvSpPr>
          <p:nvPr/>
        </p:nvSpPr>
        <p:spPr>
          <a:xfrm>
            <a:off x="1237270" y="241825"/>
            <a:ext cx="2078808" cy="55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r>
              <a:rPr lang="en-US" sz="2800" b="1" dirty="0">
                <a:solidFill>
                  <a:srgbClr val="003BA3"/>
                </a:solidFill>
                <a:latin typeface="Montserrat" panose="020B0604020202020204" charset="0"/>
                <a:cs typeface="Montserrat" panose="020B0604020202020204" charset="0"/>
              </a:rPr>
              <a:t>Contents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0078" y="1163364"/>
            <a:ext cx="4572000" cy="32719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95300" lvl="0" indent="-342900">
              <a:lnSpc>
                <a:spcPct val="150000"/>
              </a:lnSpc>
              <a:buClr>
                <a:srgbClr val="4A8CFF"/>
              </a:buClr>
              <a:buSzPts val="1200"/>
              <a:buFont typeface="Wingdings" pitchFamily="2" charset="2"/>
              <a:buChar char="§"/>
            </a:pPr>
            <a:r>
              <a:rPr lang="en-US" sz="2000" b="1" dirty="0">
                <a:latin typeface="Montserrat"/>
                <a:cs typeface="Montserrat"/>
                <a:sym typeface="Montserrat"/>
              </a:rPr>
              <a:t>Introduction</a:t>
            </a:r>
          </a:p>
          <a:p>
            <a:pPr marL="495300" indent="-342900">
              <a:lnSpc>
                <a:spcPct val="150000"/>
              </a:lnSpc>
              <a:buClr>
                <a:srgbClr val="4A8CFF"/>
              </a:buClr>
              <a:buSzPts val="1200"/>
              <a:buFont typeface="Wingdings" pitchFamily="2" charset="2"/>
              <a:buChar char="§"/>
            </a:pPr>
            <a:r>
              <a:rPr lang="en-US" sz="2000" b="1" dirty="0">
                <a:latin typeface="Montserrat"/>
                <a:cs typeface="Montserrat"/>
                <a:sym typeface="Montserrat"/>
              </a:rPr>
              <a:t>Objectives</a:t>
            </a:r>
          </a:p>
          <a:p>
            <a:pPr marL="495300" lvl="0" indent="-342900">
              <a:lnSpc>
                <a:spcPct val="150000"/>
              </a:lnSpc>
              <a:buClr>
                <a:srgbClr val="4A8CFF"/>
              </a:buClr>
              <a:buSzPts val="1200"/>
              <a:buFont typeface="Wingdings" pitchFamily="2" charset="2"/>
              <a:buChar char="§"/>
            </a:pPr>
            <a:r>
              <a:rPr lang="en-US" sz="2000" b="1" dirty="0">
                <a:latin typeface="Montserrat"/>
                <a:cs typeface="Montserrat"/>
                <a:sym typeface="Montserrat"/>
              </a:rPr>
              <a:t>Methods &amp; Materials</a:t>
            </a:r>
          </a:p>
          <a:p>
            <a:pPr marL="495300" lvl="0" indent="-342900">
              <a:lnSpc>
                <a:spcPct val="150000"/>
              </a:lnSpc>
              <a:buClr>
                <a:srgbClr val="4A8CFF"/>
              </a:buClr>
              <a:buSzPts val="1200"/>
              <a:buFont typeface="Wingdings" pitchFamily="2" charset="2"/>
              <a:buChar char="§"/>
            </a:pPr>
            <a:r>
              <a:rPr lang="en-US" sz="2000" b="1" dirty="0">
                <a:latin typeface="Montserrat"/>
                <a:cs typeface="Montserrat"/>
                <a:sym typeface="Montserrat"/>
              </a:rPr>
              <a:t>Results &amp; Discussion</a:t>
            </a:r>
          </a:p>
          <a:p>
            <a:pPr marL="495300" lvl="0" indent="-342900">
              <a:lnSpc>
                <a:spcPct val="150000"/>
              </a:lnSpc>
              <a:buClr>
                <a:srgbClr val="4A8CFF"/>
              </a:buClr>
              <a:buSzPts val="1200"/>
              <a:buFont typeface="Wingdings" pitchFamily="2" charset="2"/>
              <a:buChar char="§"/>
            </a:pPr>
            <a:r>
              <a:rPr lang="en-US" sz="2000" b="1" dirty="0">
                <a:latin typeface="Montserrat"/>
                <a:cs typeface="Montserrat"/>
                <a:sym typeface="Montserrat"/>
              </a:rPr>
              <a:t>Limitations</a:t>
            </a:r>
          </a:p>
          <a:p>
            <a:pPr marL="495300" lvl="0" indent="-342900">
              <a:lnSpc>
                <a:spcPct val="150000"/>
              </a:lnSpc>
              <a:buClr>
                <a:srgbClr val="4A8CFF"/>
              </a:buClr>
              <a:buSzPts val="1200"/>
              <a:buFont typeface="Wingdings" pitchFamily="2" charset="2"/>
              <a:buChar char="§"/>
            </a:pPr>
            <a:r>
              <a:rPr lang="en-US" sz="2000" b="1" dirty="0">
                <a:latin typeface="Montserrat"/>
                <a:cs typeface="Montserrat"/>
                <a:sym typeface="Montserrat"/>
              </a:rPr>
              <a:t>Future Work </a:t>
            </a:r>
          </a:p>
          <a:p>
            <a:pPr marL="495300" lvl="0" indent="-342900">
              <a:lnSpc>
                <a:spcPct val="150000"/>
              </a:lnSpc>
              <a:buClr>
                <a:srgbClr val="4A8CFF"/>
              </a:buClr>
              <a:buSzPts val="1200"/>
              <a:buFont typeface="Wingdings" pitchFamily="2" charset="2"/>
              <a:buChar char="§"/>
            </a:pPr>
            <a:r>
              <a:rPr lang="en-US" sz="2000" b="1" dirty="0">
                <a:latin typeface="Montserrat"/>
                <a:cs typeface="Montserrat"/>
                <a:sym typeface="Montserrat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97127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>
            <a:spLocks noGrp="1"/>
          </p:cNvSpPr>
          <p:nvPr>
            <p:ph type="title"/>
          </p:nvPr>
        </p:nvSpPr>
        <p:spPr>
          <a:xfrm>
            <a:off x="311700" y="48086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>
                <a:solidFill>
                  <a:srgbClr val="003BA3"/>
                </a:solidFill>
              </a:rPr>
              <a:t>Introduction</a:t>
            </a:r>
            <a:endParaRPr dirty="0">
              <a:solidFill>
                <a:srgbClr val="003BA3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42258" y="4651773"/>
            <a:ext cx="182568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i="1" dirty="0">
                <a:latin typeface="Fira Sans" panose="020B0604020202020204" charset="0"/>
                <a:cs typeface="Fira Sans" panose="020B0604020202020204" charset="0"/>
              </a:rPr>
              <a:t>Source:  </a:t>
            </a:r>
            <a:r>
              <a:rPr lang="en-US" sz="1050" i="1" dirty="0">
                <a:latin typeface="Fira Sans" panose="020B0604020202020204" charset="0"/>
                <a:cs typeface="Fira Sans" panose="020B0604020202020204" charset="0"/>
                <a:hlinkClick r:id="rId3"/>
              </a:rPr>
              <a:t>familydoctor.org</a:t>
            </a:r>
            <a:r>
              <a:rPr lang="en-US" sz="1050" i="1" dirty="0">
                <a:latin typeface="Fira Sans" panose="020B0604020202020204" charset="0"/>
                <a:cs typeface="Fira Sans" panose="020B0604020202020204" charset="0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378" y="1477478"/>
            <a:ext cx="4572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b="1" dirty="0">
                <a:latin typeface="Fira Sans" panose="020B0604020202020204" charset="0"/>
                <a:cs typeface="Fira Sans" panose="020B0604020202020204" charset="0"/>
              </a:rPr>
              <a:t>Normal Heart Anatomy and Function:</a:t>
            </a:r>
            <a:endParaRPr lang="en-US" dirty="0">
              <a:latin typeface="Fira Sans" panose="020B0604020202020204" charset="0"/>
              <a:cs typeface="Fira Sans" panose="020B0604020202020204" charset="0"/>
            </a:endParaRPr>
          </a:p>
          <a:p>
            <a:pPr algn="just"/>
            <a:endParaRPr lang="en-US" b="1" dirty="0">
              <a:latin typeface="Fira Sans" panose="020B0604020202020204" charset="0"/>
              <a:cs typeface="Fira Sans" panose="020B0604020202020204" charset="0"/>
            </a:endParaRPr>
          </a:p>
          <a:p>
            <a:pPr algn="just"/>
            <a:r>
              <a:rPr lang="en-US" b="1" dirty="0">
                <a:latin typeface="Fira Sans" panose="020B0604020202020204" charset="0"/>
                <a:cs typeface="Fira Sans" panose="020B0604020202020204" charset="0"/>
              </a:rPr>
              <a:t>Structure:</a:t>
            </a:r>
            <a:r>
              <a:rPr lang="en-US" dirty="0">
                <a:latin typeface="Fira Sans" panose="020B0604020202020204" charset="0"/>
                <a:cs typeface="Fira Sans" panose="020B0604020202020204" charset="0"/>
              </a:rPr>
              <a:t> The heart consists of four chambers: two atria (upper chambers) and two ventricles (lower chambers). Valves between these chambers ensure unidirectional blood flow.</a:t>
            </a:r>
          </a:p>
          <a:p>
            <a:pPr algn="just"/>
            <a:endParaRPr lang="en-US" b="1" dirty="0">
              <a:latin typeface="Fira Sans" panose="020B0604020202020204" charset="0"/>
              <a:cs typeface="Fira Sans" panose="020B0604020202020204" charset="0"/>
            </a:endParaRPr>
          </a:p>
          <a:p>
            <a:pPr algn="just"/>
            <a:r>
              <a:rPr lang="en-US" b="1" dirty="0">
                <a:latin typeface="Fira Sans" panose="020B0604020202020204" charset="0"/>
                <a:cs typeface="Fira Sans" panose="020B0604020202020204" charset="0"/>
              </a:rPr>
              <a:t>Function:</a:t>
            </a:r>
            <a:r>
              <a:rPr lang="en-US" dirty="0">
                <a:latin typeface="Fira Sans" panose="020B0604020202020204" charset="0"/>
                <a:cs typeface="Fira Sans" panose="020B0604020202020204" charset="0"/>
              </a:rPr>
              <a:t> The right side of the heart pumps oxygen-poor blood to the lungs, while the left side pumps oxygen-rich blood to the rest of the body. This coordinated effort maintains efficient circulation.</a:t>
            </a:r>
          </a:p>
        </p:txBody>
      </p:sp>
      <p:pic>
        <p:nvPicPr>
          <p:cNvPr id="14" name="Picture 4" descr="Anatomy of the interior of the heart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378" y="336345"/>
            <a:ext cx="3988222" cy="283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5072699" y="3518274"/>
            <a:ext cx="416480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i="1" dirty="0">
                <a:latin typeface="Fira Sans" panose="020B0604020202020204" charset="0"/>
                <a:cs typeface="Fira Sans" panose="020B0604020202020204" charset="0"/>
              </a:rPr>
              <a:t>Figure 1 : Anatomy of the interior of the heart. This image shows the four chambers of the heart and the direction that blood flows through the heart. Oxygen-poor blood, shown in blue-purple, flows into the heart and is pumped out to the lungs. Then oxygen-rich blood, shown in red, is pumped out to the rest of the body, with the help of the heart valves.</a:t>
            </a:r>
          </a:p>
        </p:txBody>
      </p:sp>
      <p:sp>
        <p:nvSpPr>
          <p:cNvPr id="16" name="Google Shape;253;p5"/>
          <p:cNvSpPr txBox="1"/>
          <p:nvPr/>
        </p:nvSpPr>
        <p:spPr>
          <a:xfrm>
            <a:off x="8754055" y="4787483"/>
            <a:ext cx="27709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1</a:t>
            </a:r>
            <a:endParaRPr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>
            <a:spLocks noGrp="1"/>
          </p:cNvSpPr>
          <p:nvPr>
            <p:ph type="title"/>
          </p:nvPr>
        </p:nvSpPr>
        <p:spPr>
          <a:xfrm>
            <a:off x="311700" y="48086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>
                <a:solidFill>
                  <a:srgbClr val="003BA3"/>
                </a:solidFill>
              </a:rPr>
              <a:t>Introduction</a:t>
            </a:r>
            <a:endParaRPr dirty="0">
              <a:solidFill>
                <a:srgbClr val="003BA3"/>
              </a:solidFill>
            </a:endParaRPr>
          </a:p>
        </p:txBody>
      </p:sp>
      <p:sp>
        <p:nvSpPr>
          <p:cNvPr id="7" name="Google Shape;260;p6"/>
          <p:cNvSpPr txBox="1">
            <a:spLocks noGrp="1"/>
          </p:cNvSpPr>
          <p:nvPr>
            <p:ph type="body" idx="4294967295"/>
          </p:nvPr>
        </p:nvSpPr>
        <p:spPr>
          <a:xfrm>
            <a:off x="224359" y="1191525"/>
            <a:ext cx="4662082" cy="3748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Heart Failure Anatomy and Function:</a:t>
            </a:r>
            <a:endParaRPr lang="en-US" sz="14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marL="114300" indent="0">
              <a:buNone/>
            </a:pPr>
            <a:endParaRPr lang="en-US" sz="1400" b="1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Structural Changes:</a:t>
            </a:r>
            <a:r>
              <a:rPr lang="en-US" sz="14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 In heart failure, the heart may undergo remodeling, leading to enlarged ventricles (dilation) or thickened walls (hypertrophy), impairing its pumping ability.</a:t>
            </a:r>
          </a:p>
          <a:p>
            <a:pPr marL="114300" indent="0">
              <a:buNone/>
            </a:pPr>
            <a:endParaRPr lang="en-US" sz="1400" b="1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Functional Impairment:</a:t>
            </a:r>
            <a:r>
              <a:rPr lang="en-US" sz="14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 The weakened heart muscle cannot pump blood effectively, resulting in reduced cardiac output and inadequate blood supply to meet the body's needs.</a:t>
            </a:r>
          </a:p>
          <a:p>
            <a:pPr marL="114300" indent="0">
              <a:buNone/>
            </a:pPr>
            <a:endParaRPr lang="en-US" sz="14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marL="114300" indent="0">
              <a:buNone/>
            </a:pPr>
            <a:endParaRPr lang="en-US" sz="14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60157" y="4401009"/>
            <a:ext cx="382904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i="1" dirty="0">
                <a:latin typeface="Fira Sans" panose="020B0604020202020204" charset="0"/>
                <a:cs typeface="Fira Sans" panose="020B0604020202020204" charset="0"/>
              </a:rPr>
              <a:t>Source: </a:t>
            </a:r>
            <a:r>
              <a:rPr lang="en-US" sz="1050" i="1" dirty="0">
                <a:latin typeface="Fira Sans" panose="020B0604020202020204" charset="0"/>
                <a:cs typeface="Fira Sans" panose="020B0604020202020204" charset="0"/>
                <a:hlinkClick r:id="rId3"/>
              </a:rPr>
              <a:t>https://www.nhlbi.nih.gov/health/heart/anatomy#</a:t>
            </a:r>
            <a:r>
              <a:rPr lang="en-US" sz="1050" i="1" dirty="0">
                <a:latin typeface="Fira Sans" panose="020B0604020202020204" charset="0"/>
                <a:cs typeface="Fira Sans" panose="020B0604020202020204" charset="0"/>
              </a:rPr>
              <a:t> </a:t>
            </a:r>
          </a:p>
        </p:txBody>
      </p:sp>
      <p:pic>
        <p:nvPicPr>
          <p:cNvPr id="11" name="Picture 4" descr="side-by-side diagrams of a healthy heart and one with heart failu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890" y="980834"/>
            <a:ext cx="4337455" cy="2342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5021178" y="3510220"/>
            <a:ext cx="39070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latin typeface="Fira Sans" panose="020B0604020202020204" charset="0"/>
                <a:cs typeface="Fira Sans" panose="020B0604020202020204" charset="0"/>
              </a:rPr>
              <a:t>Figure 2 : Side-by-side illustrations showing a healthy heart's size and structure compared to a heart affected by failure, highlighting changes like ventricular dilation or hypertrophy.</a:t>
            </a:r>
          </a:p>
        </p:txBody>
      </p:sp>
      <p:sp>
        <p:nvSpPr>
          <p:cNvPr id="13" name="Google Shape;253;p5"/>
          <p:cNvSpPr txBox="1"/>
          <p:nvPr/>
        </p:nvSpPr>
        <p:spPr>
          <a:xfrm>
            <a:off x="8866910" y="4801283"/>
            <a:ext cx="27709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2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79405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>
            <a:spLocks noGrp="1"/>
          </p:cNvSpPr>
          <p:nvPr>
            <p:ph type="title"/>
          </p:nvPr>
        </p:nvSpPr>
        <p:spPr>
          <a:xfrm>
            <a:off x="311700" y="48086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>
                <a:solidFill>
                  <a:srgbClr val="003BA3"/>
                </a:solidFill>
              </a:rPr>
              <a:t>Introduction</a:t>
            </a:r>
            <a:endParaRPr dirty="0">
              <a:solidFill>
                <a:srgbClr val="003BA3"/>
              </a:solidFill>
            </a:endParaRPr>
          </a:p>
        </p:txBody>
      </p:sp>
      <p:sp>
        <p:nvSpPr>
          <p:cNvPr id="7" name="Google Shape;260;p6"/>
          <p:cNvSpPr txBox="1">
            <a:spLocks noGrp="1"/>
          </p:cNvSpPr>
          <p:nvPr>
            <p:ph type="body" idx="4294967295"/>
          </p:nvPr>
        </p:nvSpPr>
        <p:spPr>
          <a:xfrm>
            <a:off x="224359" y="1433945"/>
            <a:ext cx="4341006" cy="350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Comparative Analysis:</a:t>
            </a:r>
          </a:p>
          <a:p>
            <a:pPr marL="114300" indent="0">
              <a:buNone/>
            </a:pPr>
            <a:endParaRPr lang="en-US" sz="14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Ejection Fraction:</a:t>
            </a:r>
            <a:r>
              <a:rPr lang="en-US" sz="14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 In a healthy heart, a significant percentage of blood is ejected with each beat. In heart failure, this ejection fraction decreases, indicating diminished pumping efficiency.</a:t>
            </a:r>
          </a:p>
          <a:p>
            <a:pPr marL="114300" indent="0">
              <a:buNone/>
            </a:pPr>
            <a:endParaRPr lang="en-US" sz="14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Symptoms Correlation:</a:t>
            </a:r>
            <a:r>
              <a:rPr lang="en-US" sz="14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 The structural and functional changes in heart failure lead to symptoms such as fatigue, shortness of breath, and fluid retention.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4856249" y="3561984"/>
            <a:ext cx="4164806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i="1" dirty="0">
                <a:latin typeface="Fira Sans" panose="020B0604020202020204" charset="0"/>
                <a:cs typeface="Fira Sans" panose="020B0604020202020204" charset="0"/>
              </a:rPr>
              <a:t>Figure 3: Visual representation comparing the percentage of blood pumped out of the ventricles in a healthy heart versus a failing heart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4127" y="4139065"/>
            <a:ext cx="3829049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i="1" dirty="0">
                <a:latin typeface="Fira Sans" panose="020B0604020202020204" charset="0"/>
                <a:cs typeface="Fira Sans" panose="020B0604020202020204" charset="0"/>
              </a:rPr>
              <a:t>Source: </a:t>
            </a:r>
            <a:r>
              <a:rPr lang="en-US" sz="1050" i="1" dirty="0">
                <a:latin typeface="Fira Sans" panose="020B0604020202020204" charset="0"/>
                <a:cs typeface="Fira Sans" panose="020B0604020202020204" charset="0"/>
                <a:hlinkClick r:id="rId3"/>
              </a:rPr>
              <a:t>https://www.alamy.com/stock-photo-llustration-comparing-a-normal-heat-left-to-a-diseased-heart-undergoing-103991720.html</a:t>
            </a:r>
            <a:r>
              <a:rPr lang="en-US" sz="1050" i="1" dirty="0">
                <a:latin typeface="Fira Sans" panose="020B0604020202020204" charset="0"/>
                <a:cs typeface="Fira Sans" panose="020B0604020202020204" charset="0"/>
              </a:rPr>
              <a:t> </a:t>
            </a:r>
          </a:p>
        </p:txBody>
      </p:sp>
      <p:pic>
        <p:nvPicPr>
          <p:cNvPr id="4100" name="Picture 4" descr="llustration comparing a normal heat (left) to a diseased heart ...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21"/>
          <a:stretch/>
        </p:blipFill>
        <p:spPr bwMode="auto">
          <a:xfrm>
            <a:off x="4856249" y="866075"/>
            <a:ext cx="3850417" cy="220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253;p5"/>
          <p:cNvSpPr txBox="1"/>
          <p:nvPr/>
        </p:nvSpPr>
        <p:spPr>
          <a:xfrm>
            <a:off x="8541328" y="4551218"/>
            <a:ext cx="2770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7103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488873" y="1330036"/>
            <a:ext cx="4514820" cy="269147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60;p6"/>
          <p:cNvSpPr txBox="1">
            <a:spLocks/>
          </p:cNvSpPr>
          <p:nvPr/>
        </p:nvSpPr>
        <p:spPr>
          <a:xfrm>
            <a:off x="0" y="853265"/>
            <a:ext cx="4662082" cy="4293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1. Healthy Heart:</a:t>
            </a:r>
          </a:p>
          <a:p>
            <a:pPr marL="114300" indent="0">
              <a:buNone/>
            </a:pPr>
            <a:r>
              <a:rPr lang="en-US" sz="14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- Efficient blood flow and oxygen supply to the body.</a:t>
            </a:r>
          </a:p>
          <a:p>
            <a:pPr marL="114300" indent="0">
              <a:buNone/>
            </a:pPr>
            <a:r>
              <a:rPr lang="en-US" sz="14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- Maintains coordinated and optimal cardiac function.</a:t>
            </a:r>
          </a:p>
          <a:p>
            <a:pPr marL="114300" indent="0">
              <a:buNone/>
            </a:pPr>
            <a:endParaRPr lang="en-US" sz="14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2. Compensated Preserved Function:</a:t>
            </a: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Adaptations:</a:t>
            </a:r>
            <a:r>
              <a:rPr lang="en-US" sz="14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 LV hypertrophy, thickened walls.</a:t>
            </a: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Changes:</a:t>
            </a:r>
            <a:r>
              <a:rPr lang="en-US" sz="14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 Altered calcium handling, fibrosis, increased angiogenesis.</a:t>
            </a: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Symptoms:</a:t>
            </a:r>
            <a:r>
              <a:rPr lang="en-US" sz="14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 Often asymptomatic at this stage.</a:t>
            </a:r>
          </a:p>
          <a:p>
            <a:pPr marL="114300" indent="0">
              <a:buNone/>
            </a:pPr>
            <a:endParaRPr lang="en-US" sz="14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3. Decompensated Dysfunction:</a:t>
            </a: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Structural Changes:</a:t>
            </a:r>
            <a:r>
              <a:rPr lang="en-US" sz="14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 Ventricular dilation, contractile dysfunction, excessive fibrosis.</a:t>
            </a: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Functional Impairments:</a:t>
            </a:r>
            <a:r>
              <a:rPr lang="en-US" sz="14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 Energy depletion, poor pumping efficiency.</a:t>
            </a: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Clinical Symptoms:</a:t>
            </a:r>
            <a:r>
              <a:rPr lang="en-US" sz="14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 Fatigue, shortness of breath, fluid retention.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42428" y="260811"/>
            <a:ext cx="8901572" cy="572700"/>
          </a:xfrm>
        </p:spPr>
        <p:txBody>
          <a:bodyPr/>
          <a:lstStyle/>
          <a:p>
            <a:r>
              <a:rPr lang="en-US" sz="2000" dirty="0">
                <a:solidFill>
                  <a:srgbClr val="003BA3"/>
                </a:solidFill>
              </a:rPr>
              <a:t>Progression of Heart Failure – From Healthy Heart to Dysfunction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64067" y="4150802"/>
            <a:ext cx="416480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i="1" dirty="0">
                <a:latin typeface="Fira Sans" panose="020B0604020202020204" charset="0"/>
                <a:cs typeface="Fira Sans" panose="020B0604020202020204" charset="0"/>
              </a:rPr>
              <a:t>Figure 4: Progression of Heart Failure</a:t>
            </a:r>
          </a:p>
        </p:txBody>
      </p:sp>
      <p:sp>
        <p:nvSpPr>
          <p:cNvPr id="19" name="Google Shape;253;p5"/>
          <p:cNvSpPr txBox="1"/>
          <p:nvPr/>
        </p:nvSpPr>
        <p:spPr>
          <a:xfrm>
            <a:off x="8726603" y="4777929"/>
            <a:ext cx="27709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4</a:t>
            </a:r>
            <a:endParaRPr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0010" y="1301854"/>
            <a:ext cx="3761536" cy="2539791"/>
          </a:xfrm>
          <a:prstGeom prst="rect">
            <a:avLst/>
          </a:prstGeom>
          <a:solidFill>
            <a:schemeClr val="lt1"/>
          </a:solidFill>
          <a:ln w="25400">
            <a:solidFill>
              <a:schemeClr val="accent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28" y="260811"/>
            <a:ext cx="8520600" cy="572700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rgbClr val="003BA3"/>
                </a:solidFill>
              </a:rPr>
              <a:t>Biopsychosocial Model of Cardiovascular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436" y="3470564"/>
            <a:ext cx="2057400" cy="128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0836" y="1017725"/>
            <a:ext cx="494607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 1. Biological Realm: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Factors: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Age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,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Sex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,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Race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,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Genetics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,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Genomics</a:t>
            </a:r>
            <a:endParaRPr lang="en-US" sz="1200" dirty="0">
              <a:latin typeface="Fira Sans" panose="020B0604020202020204" charset="0"/>
              <a:cs typeface="Fira San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Older individuals and certain ethnic groups are at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higher risk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 for heart disease.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Genetic predisposition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 influences susceptibility to cardiovascular conditions.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latin typeface="Fira Sans" panose="020B0604020202020204" charset="0"/>
              <a:cs typeface="Fira Sans" panose="020B0604020202020204" charset="0"/>
            </a:endParaRPr>
          </a:p>
          <a:p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2. Psychological Realm: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Mental health directly impacts heart health.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Key conditions: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Stress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,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Anxiety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,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Depression</a:t>
            </a:r>
            <a:endParaRPr lang="en-US" sz="1200" dirty="0">
              <a:latin typeface="Fira Sans" panose="020B0604020202020204" charset="0"/>
              <a:cs typeface="Fira San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Chronic stress can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elevate blood pressure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 and worsen heart function.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latin typeface="Fira Sans" panose="020B0604020202020204" charset="0"/>
              <a:cs typeface="Fira Sans" panose="020B0604020202020204" charset="0"/>
            </a:endParaRPr>
          </a:p>
          <a:p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3. Social Realm: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Social factors: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Support Systems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,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Socioeconomic Status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,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Pet Ownership</a:t>
            </a:r>
            <a:endParaRPr lang="en-US" sz="1200" dirty="0">
              <a:latin typeface="Fira Sans" panose="020B0604020202020204" charset="0"/>
              <a:cs typeface="Fira San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Strong social connections improve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recovery rates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 and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treatment adherence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Socioeconomic disparities can influence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access to care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 and </a:t>
            </a:r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treatment outcomes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7745" y="4056072"/>
            <a:ext cx="416480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i="1" dirty="0">
                <a:latin typeface="Fira Sans" panose="020B0604020202020204" charset="0"/>
                <a:cs typeface="Fira Sans" panose="020B0604020202020204" charset="0"/>
              </a:rPr>
              <a:t>Figure 5: Biopsychosocial Model of Cardiovascular Health</a:t>
            </a:r>
          </a:p>
        </p:txBody>
      </p:sp>
      <p:sp>
        <p:nvSpPr>
          <p:cNvPr id="14" name="Google Shape;253;p5"/>
          <p:cNvSpPr txBox="1"/>
          <p:nvPr/>
        </p:nvSpPr>
        <p:spPr>
          <a:xfrm>
            <a:off x="8541328" y="4551218"/>
            <a:ext cx="2770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5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"/>
          <p:cNvSpPr txBox="1">
            <a:spLocks noGrp="1"/>
          </p:cNvSpPr>
          <p:nvPr>
            <p:ph type="title"/>
          </p:nvPr>
        </p:nvSpPr>
        <p:spPr>
          <a:xfrm>
            <a:off x="879966" y="84263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Insights from Existing Research</a:t>
            </a:r>
            <a:endParaRPr dirty="0"/>
          </a:p>
        </p:txBody>
      </p:sp>
      <p:sp>
        <p:nvSpPr>
          <p:cNvPr id="265" name="Google Shape;265;p6"/>
          <p:cNvSpPr txBox="1"/>
          <p:nvPr/>
        </p:nvSpPr>
        <p:spPr>
          <a:xfrm>
            <a:off x="8472055" y="4648200"/>
            <a:ext cx="2770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</a:t>
            </a:r>
            <a:endParaRPr dirty="0"/>
          </a:p>
        </p:txBody>
      </p:sp>
      <p:sp>
        <p:nvSpPr>
          <p:cNvPr id="23" name="Google Shape;235;p6"/>
          <p:cNvSpPr txBox="1">
            <a:spLocks/>
          </p:cNvSpPr>
          <p:nvPr/>
        </p:nvSpPr>
        <p:spPr>
          <a:xfrm>
            <a:off x="846435" y="1624619"/>
            <a:ext cx="3020631" cy="279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</a:pPr>
            <a:r>
              <a:rPr lang="en-US" dirty="0"/>
              <a:t>Shah et al. (2020): KNN model achieved 90.8% accuracy for CVD prediction.</a:t>
            </a:r>
          </a:p>
          <a:p>
            <a:pPr marL="0" indent="0" algn="l">
              <a:buClr>
                <a:schemeClr val="dk1"/>
              </a:buClr>
              <a:buSzPts val="1100"/>
            </a:pPr>
            <a:endParaRPr lang="en-US" dirty="0"/>
          </a:p>
          <a:p>
            <a:pPr marL="0" indent="0" algn="l">
              <a:buClr>
                <a:schemeClr val="dk1"/>
              </a:buClr>
              <a:buSzPts val="1100"/>
            </a:pPr>
            <a:r>
              <a:rPr lang="en-US" dirty="0"/>
              <a:t>Mahmud et al. (2023): ML enhances diagnostic precision and helps develop cost-effective interventions.</a:t>
            </a:r>
          </a:p>
          <a:p>
            <a:pPr marL="0" indent="0" algn="l">
              <a:buClr>
                <a:schemeClr val="dk1"/>
              </a:buClr>
              <a:buSzPts val="1100"/>
            </a:pPr>
            <a:endParaRPr lang="en-US" dirty="0"/>
          </a:p>
          <a:p>
            <a:pPr marL="0" indent="0" algn="l">
              <a:buClr>
                <a:schemeClr val="dk1"/>
              </a:buClr>
              <a:buSzPts val="1100"/>
            </a:pPr>
            <a:r>
              <a:rPr lang="en-US" dirty="0" err="1"/>
              <a:t>Mahgoub</a:t>
            </a:r>
            <a:r>
              <a:rPr lang="en-US" dirty="0"/>
              <a:t> (2023): </a:t>
            </a:r>
            <a:r>
              <a:rPr lang="en-US" dirty="0" err="1"/>
              <a:t>Metamodel</a:t>
            </a:r>
            <a:r>
              <a:rPr lang="en-US" dirty="0"/>
              <a:t> approaches show improved prediction accuracy.</a:t>
            </a:r>
          </a:p>
        </p:txBody>
      </p:sp>
      <p:sp>
        <p:nvSpPr>
          <p:cNvPr id="24" name="Google Shape;237;p6"/>
          <p:cNvSpPr txBox="1">
            <a:spLocks noGrp="1"/>
          </p:cNvSpPr>
          <p:nvPr>
            <p:ph type="subTitle" idx="4"/>
          </p:nvPr>
        </p:nvSpPr>
        <p:spPr>
          <a:xfrm>
            <a:off x="879966" y="1013615"/>
            <a:ext cx="29871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b="1" dirty="0">
                <a:solidFill>
                  <a:srgbClr val="003BA3"/>
                </a:solidFill>
              </a:rPr>
              <a:t>Key Studies</a:t>
            </a:r>
            <a:endParaRPr b="1" dirty="0">
              <a:solidFill>
                <a:srgbClr val="003BA3"/>
              </a:solidFill>
            </a:endParaRPr>
          </a:p>
        </p:txBody>
      </p:sp>
      <p:sp>
        <p:nvSpPr>
          <p:cNvPr id="26" name="Google Shape;234;p6"/>
          <p:cNvSpPr txBox="1">
            <a:spLocks/>
          </p:cNvSpPr>
          <p:nvPr/>
        </p:nvSpPr>
        <p:spPr>
          <a:xfrm>
            <a:off x="5216813" y="1672204"/>
            <a:ext cx="2987100" cy="2975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</a:pPr>
            <a:r>
              <a:rPr lang="en-US" sz="1400" b="0" dirty="0">
                <a:solidFill>
                  <a:schemeClr val="tx1"/>
                </a:solidFill>
              </a:rPr>
              <a:t>Small datasets and limited diversity risk overfitting and reduce generalizability.</a:t>
            </a:r>
          </a:p>
          <a:p>
            <a:pPr marL="0" indent="0" algn="l">
              <a:buClr>
                <a:schemeClr val="dk1"/>
              </a:buClr>
              <a:buSzPts val="1100"/>
            </a:pPr>
            <a:endParaRPr lang="en-US" sz="1400" b="0" dirty="0">
              <a:solidFill>
                <a:schemeClr val="tx1"/>
              </a:solidFill>
            </a:endParaRPr>
          </a:p>
          <a:p>
            <a:pPr marL="0" indent="0" algn="l">
              <a:buClr>
                <a:schemeClr val="dk1"/>
              </a:buClr>
              <a:buSzPts val="1100"/>
            </a:pPr>
            <a:r>
              <a:rPr lang="en-US" sz="1400" b="0" dirty="0">
                <a:solidFill>
                  <a:schemeClr val="tx1"/>
                </a:solidFill>
              </a:rPr>
              <a:t>Expanding datasets and including diverse populations are crucial for reliable prediction models.</a:t>
            </a:r>
          </a:p>
        </p:txBody>
      </p:sp>
      <p:sp>
        <p:nvSpPr>
          <p:cNvPr id="27" name="Google Shape;236;p6"/>
          <p:cNvSpPr txBox="1">
            <a:spLocks noGrp="1"/>
          </p:cNvSpPr>
          <p:nvPr>
            <p:ph type="subTitle" idx="3"/>
          </p:nvPr>
        </p:nvSpPr>
        <p:spPr>
          <a:xfrm>
            <a:off x="5216813" y="1106305"/>
            <a:ext cx="2372891" cy="75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en-US" sz="1400" dirty="0"/>
              <a:t>Challenges in </a:t>
            </a:r>
            <a:br>
              <a:rPr lang="en-US" sz="1400" dirty="0"/>
            </a:br>
            <a:r>
              <a:rPr lang="en-US" sz="1400" dirty="0"/>
              <a:t>Current Research</a:t>
            </a:r>
            <a:endParaRPr sz="1400" dirty="0"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007A-ED72-2E4A-A3FF-7C4074FA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703" y="71675"/>
            <a:ext cx="7708200" cy="57270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36331FD-277C-B24E-A824-96E62091198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11499" y="1304904"/>
            <a:ext cx="8711921" cy="2814920"/>
          </a:xfrm>
        </p:spPr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sz="2000" dirty="0"/>
              <a:t>To mitigate overfitting in prediction models by implementing</a:t>
            </a:r>
          </a:p>
          <a:p>
            <a:pPr marL="114300" indent="0" algn="just"/>
            <a:r>
              <a:rPr lang="en-US" sz="2000" dirty="0"/>
              <a:t>     strategies tailored to small datasets and limited diversity.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/>
          </a:p>
          <a:p>
            <a:pPr algn="just">
              <a:buFont typeface="Wingdings" pitchFamily="2" charset="2"/>
              <a:buChar char="Ø"/>
            </a:pPr>
            <a:r>
              <a:rPr lang="en-US" sz="2000" dirty="0"/>
              <a:t>To expand datasets with diverse population data to improve the reliability and generalizability of prediction models.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/>
          </a:p>
          <a:p>
            <a:pPr algn="just">
              <a:buFont typeface="Wingdings" pitchFamily="2" charset="2"/>
              <a:buChar char="Ø"/>
            </a:pPr>
            <a:r>
              <a:rPr lang="en-US" sz="2000" dirty="0"/>
              <a:t>To validate and optimize prediction models for accurate</a:t>
            </a:r>
          </a:p>
          <a:p>
            <a:pPr marL="114300" indent="0" algn="just"/>
            <a:r>
              <a:rPr lang="en-US" sz="2000" dirty="0"/>
              <a:t>     performance across varied and representative populations.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07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51;p5"/>
          <p:cNvSpPr txBox="1">
            <a:spLocks noGrp="1"/>
          </p:cNvSpPr>
          <p:nvPr>
            <p:ph type="title"/>
          </p:nvPr>
        </p:nvSpPr>
        <p:spPr>
          <a:xfrm>
            <a:off x="4009555" y="1863437"/>
            <a:ext cx="4462500" cy="127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200" dirty="0">
                <a:solidFill>
                  <a:srgbClr val="003BA3"/>
                </a:solidFill>
              </a:rPr>
              <a:t>Methods &amp; Materials</a:t>
            </a:r>
            <a:endParaRPr sz="4200" dirty="0">
              <a:solidFill>
                <a:srgbClr val="003BA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458197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7"/>
          <p:cNvSpPr txBox="1">
            <a:spLocks noGrp="1"/>
          </p:cNvSpPr>
          <p:nvPr>
            <p:ph type="title"/>
          </p:nvPr>
        </p:nvSpPr>
        <p:spPr>
          <a:xfrm>
            <a:off x="322333" y="136680"/>
            <a:ext cx="872597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dirty="0">
                <a:solidFill>
                  <a:srgbClr val="003BA3"/>
                </a:solidFill>
              </a:rPr>
              <a:t>System Design Diagram of our Research</a:t>
            </a:r>
            <a:br>
              <a:rPr lang="en" sz="2400" dirty="0">
                <a:solidFill>
                  <a:srgbClr val="003BA3"/>
                </a:solidFill>
              </a:rPr>
            </a:br>
            <a:endParaRPr sz="2400" dirty="0">
              <a:solidFill>
                <a:srgbClr val="003BA3"/>
              </a:solidFill>
            </a:endParaRPr>
          </a:p>
        </p:txBody>
      </p:sp>
      <p:pic>
        <p:nvPicPr>
          <p:cNvPr id="1026" name="Picture 2" descr="https://lh7-rt.googleusercontent.com/docsz/AD_4nXea171K7GMtdfKenlPniRM1fenUQHjdUKx0ZPiLfZg9VvHsRP5-8HwQ3QFNHS96dUhq5Q0AnwREXwCToo5fpeO9ceLXdz9QZKayKgCsS51HIC8wsWkdiKc0Z5BQUpEYHOAu11RA6g?key=CR9qYHD_zcelV3_7zVNGo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576" y="942109"/>
            <a:ext cx="5634848" cy="352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156855" y="4666320"/>
            <a:ext cx="676101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44546A"/>
                </a:solidFill>
                <a:latin typeface="Arial" panose="020B0604020202020204" pitchFamily="34" charset="0"/>
              </a:rPr>
              <a:t>Figure 6 : Proposed System Design Diagram of Heart Failure Prediction using ML</a:t>
            </a:r>
            <a:endParaRPr lang="en-US" dirty="0"/>
          </a:p>
        </p:txBody>
      </p:sp>
      <p:sp>
        <p:nvSpPr>
          <p:cNvPr id="10" name="Google Shape;253;p5"/>
          <p:cNvSpPr txBox="1"/>
          <p:nvPr/>
        </p:nvSpPr>
        <p:spPr>
          <a:xfrm>
            <a:off x="8541328" y="4551218"/>
            <a:ext cx="2770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7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34326" y="349934"/>
            <a:ext cx="6715991" cy="9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sz="2400" dirty="0">
                <a:solidFill>
                  <a:srgbClr val="003BA3"/>
                </a:solidFill>
              </a:rPr>
              <a:t>Machine Learning Workflow for Heart Failure Prediction</a:t>
            </a:r>
          </a:p>
        </p:txBody>
      </p:sp>
      <p:pic>
        <p:nvPicPr>
          <p:cNvPr id="7" name="Google Shape;244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0" y="1504518"/>
            <a:ext cx="4362275" cy="213446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43;p48"/>
          <p:cNvSpPr txBox="1">
            <a:spLocks/>
          </p:cNvSpPr>
          <p:nvPr/>
        </p:nvSpPr>
        <p:spPr>
          <a:xfrm>
            <a:off x="557263" y="1463935"/>
            <a:ext cx="4335059" cy="263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Montserrat"/>
              <a:buNone/>
            </a:pPr>
            <a:r>
              <a:rPr lang="en-US" sz="1400" b="1" dirty="0">
                <a:solidFill>
                  <a:schemeClr val="tx1"/>
                </a:solidFill>
              </a:rPr>
              <a:t>Early detection of HF: </a:t>
            </a:r>
            <a:r>
              <a:rPr lang="en-US" sz="1400" dirty="0">
                <a:solidFill>
                  <a:schemeClr val="tx1"/>
                </a:solidFill>
              </a:rPr>
              <a:t>Reduces healthcare costs, improves outcomes, and supports personalized treatments.</a:t>
            </a:r>
          </a:p>
          <a:p>
            <a:pPr marL="0" indent="0">
              <a:buClr>
                <a:schemeClr val="dk1"/>
              </a:buClr>
              <a:buSzPts val="1100"/>
              <a:buFont typeface="Montserrat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Clr>
                <a:schemeClr val="dk1"/>
              </a:buClr>
              <a:buSzPts val="1100"/>
              <a:buFont typeface="Montserrat"/>
              <a:buNone/>
            </a:pPr>
            <a:r>
              <a:rPr lang="en-US" sz="1400" b="1" dirty="0">
                <a:solidFill>
                  <a:schemeClr val="tx1"/>
                </a:solidFill>
              </a:rPr>
              <a:t>Machine Learning (ML):</a:t>
            </a:r>
          </a:p>
          <a:p>
            <a:pPr marL="0" indent="0">
              <a:buClr>
                <a:schemeClr val="dk1"/>
              </a:buClr>
              <a:buSzPts val="1100"/>
              <a:buFont typeface="Montserrat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en-US" sz="1400" dirty="0">
                <a:solidFill>
                  <a:schemeClr val="tx1"/>
                </a:solidFill>
              </a:rPr>
              <a:t>Analyzes complex medical datasets to identify risk factors.</a:t>
            </a:r>
          </a:p>
          <a:p>
            <a:pPr marL="0" indent="0">
              <a:buClr>
                <a:schemeClr val="dk1"/>
              </a:buClr>
              <a:buSzPts val="1100"/>
              <a:buFont typeface="Montserrat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en-US" sz="1400" dirty="0">
                <a:solidFill>
                  <a:schemeClr val="tx1"/>
                </a:solidFill>
              </a:rPr>
              <a:t>Supports predictive models for better clinical decisions.</a:t>
            </a:r>
          </a:p>
        </p:txBody>
      </p:sp>
      <p:sp>
        <p:nvSpPr>
          <p:cNvPr id="11" name="Google Shape;246;p48"/>
          <p:cNvSpPr/>
          <p:nvPr/>
        </p:nvSpPr>
        <p:spPr>
          <a:xfrm>
            <a:off x="5687291" y="3854284"/>
            <a:ext cx="2708797" cy="48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Figure 7: Machine Learning Workflow for Model Training and Prediction</a:t>
            </a:r>
            <a:endParaRPr sz="1100" b="0" i="0" u="none" strike="noStrike" cap="none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" name="Google Shape;253;p5"/>
          <p:cNvSpPr txBox="1"/>
          <p:nvPr/>
        </p:nvSpPr>
        <p:spPr>
          <a:xfrm>
            <a:off x="8541328" y="4551218"/>
            <a:ext cx="2770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0494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/>
          <p:nvPr/>
        </p:nvSpPr>
        <p:spPr>
          <a:xfrm>
            <a:off x="394214" y="1199616"/>
            <a:ext cx="756300" cy="756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416268" y="1465566"/>
            <a:ext cx="7533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3000" b="1" i="0" u="none" strike="noStrike" cap="none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375938" y="2714715"/>
            <a:ext cx="756300" cy="756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388877" y="2980665"/>
            <a:ext cx="7533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3000" b="1" i="0" u="none" strike="noStrike" cap="none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4" name="Google Shape;284;p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Dataset Collection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241624" y="1263419"/>
            <a:ext cx="543601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Fira Sans" panose="020B0604020202020204" charset="0"/>
                <a:cs typeface="Fira Sans" panose="020B0604020202020204" charset="0"/>
              </a:rPr>
              <a:t>Dataset Reference</a:t>
            </a:r>
            <a:r>
              <a:rPr lang="en-US" dirty="0">
                <a:latin typeface="Fira Sans" panose="020B0604020202020204" charset="0"/>
                <a:cs typeface="Fira Sans" panose="020B0604020202020204" charset="0"/>
              </a:rPr>
              <a:t>:</a:t>
            </a:r>
            <a:br>
              <a:rPr lang="en-US" dirty="0"/>
            </a:br>
            <a:r>
              <a:rPr lang="en-US" dirty="0" err="1"/>
              <a:t>Davide</a:t>
            </a:r>
            <a:r>
              <a:rPr lang="en-US" dirty="0"/>
              <a:t> </a:t>
            </a:r>
            <a:r>
              <a:rPr lang="en-US" dirty="0" err="1"/>
              <a:t>Chicco</a:t>
            </a:r>
            <a:r>
              <a:rPr lang="en-US" dirty="0"/>
              <a:t>, Giuseppe </a:t>
            </a:r>
            <a:r>
              <a:rPr lang="en-US" dirty="0" err="1"/>
              <a:t>Jurman</a:t>
            </a:r>
            <a:r>
              <a:rPr lang="en-US" dirty="0"/>
              <a:t>: "Machine learning can predict survival of patients with heart failure from serum creatinine and ejection fraction alone."</a:t>
            </a:r>
            <a:br>
              <a:rPr lang="en-US" dirty="0"/>
            </a:br>
            <a:r>
              <a:rPr lang="en-US" i="1" dirty="0"/>
              <a:t>BMC Medical Informatics and Decision Making</a:t>
            </a:r>
            <a:r>
              <a:rPr lang="en-US" dirty="0"/>
              <a:t> 20, 16 (2020).</a:t>
            </a:r>
            <a:br>
              <a:rPr lang="en-US" dirty="0"/>
            </a:br>
            <a:r>
              <a:rPr lang="en-US" dirty="0">
                <a:hlinkClick r:id="rId3"/>
              </a:rPr>
              <a:t>https://doi.org/10.1186/s12911-020-1023-5</a:t>
            </a:r>
            <a:r>
              <a:rPr lang="en-US" dirty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1241624" y="2777049"/>
            <a:ext cx="543601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Fira Sans" panose="020B0604020202020204" charset="0"/>
                <a:cs typeface="Fira Sans" panose="020B0604020202020204" charset="0"/>
              </a:rPr>
              <a:t>Dataset Reference</a:t>
            </a:r>
            <a:r>
              <a:rPr lang="en-US" dirty="0">
                <a:latin typeface="Fira Sans" panose="020B0604020202020204" charset="0"/>
                <a:cs typeface="Fira Sans" panose="020B0604020202020204" charset="0"/>
              </a:rPr>
              <a:t>:</a:t>
            </a:r>
            <a:br>
              <a:rPr lang="en-US" dirty="0"/>
            </a:br>
            <a:r>
              <a:rPr lang="en-US" dirty="0" err="1"/>
              <a:t>Detrano</a:t>
            </a:r>
            <a:r>
              <a:rPr lang="en-US" dirty="0"/>
              <a:t>, R., </a:t>
            </a:r>
            <a:r>
              <a:rPr lang="en-US" dirty="0" err="1"/>
              <a:t>Janosi</a:t>
            </a:r>
            <a:r>
              <a:rPr lang="en-US" dirty="0"/>
              <a:t>, A., </a:t>
            </a:r>
            <a:r>
              <a:rPr lang="en-US" dirty="0" err="1"/>
              <a:t>Steinbrunn</a:t>
            </a:r>
            <a:r>
              <a:rPr lang="en-US" dirty="0"/>
              <a:t>, W., </a:t>
            </a:r>
            <a:r>
              <a:rPr lang="en-US" dirty="0" err="1"/>
              <a:t>Pfisterer</a:t>
            </a:r>
            <a:r>
              <a:rPr lang="en-US" dirty="0"/>
              <a:t>, M., </a:t>
            </a:r>
            <a:r>
              <a:rPr lang="en-US" dirty="0" err="1"/>
              <a:t>Schmid</a:t>
            </a:r>
            <a:r>
              <a:rPr lang="en-US" dirty="0"/>
              <a:t>, J.J., Sandhu, S., Guppy, K.H., Lee, S., &amp; </a:t>
            </a:r>
            <a:r>
              <a:rPr lang="en-US" dirty="0" err="1"/>
              <a:t>Froelicher</a:t>
            </a:r>
            <a:r>
              <a:rPr lang="en-US" dirty="0"/>
              <a:t>, V.</a:t>
            </a:r>
            <a:br>
              <a:rPr lang="en-US" dirty="0"/>
            </a:br>
            <a:r>
              <a:rPr lang="en-US" dirty="0"/>
              <a:t>"International application of a new probability algorithm for the diagnosis of coronary artery disease."</a:t>
            </a:r>
            <a:br>
              <a:rPr lang="en-US" dirty="0"/>
            </a:br>
            <a:r>
              <a:rPr lang="en-US" i="1" dirty="0"/>
              <a:t>Semantics Scholar.</a:t>
            </a:r>
            <a:br>
              <a:rPr lang="en-US" dirty="0"/>
            </a:br>
            <a:r>
              <a:rPr lang="en-US" dirty="0">
                <a:hlinkClick r:id="rId4"/>
              </a:rPr>
              <a:t>https://www.semanticscholar.org/paper/International-application-of-a-new-probability-for-Detrano-J%C3%A1nosi/a7d714f8f87bfc41351eb5ae1e5472f0ebbe0574</a:t>
            </a:r>
            <a:r>
              <a:rPr lang="en-US" dirty="0"/>
              <a:t> </a:t>
            </a:r>
          </a:p>
        </p:txBody>
      </p:sp>
      <p:sp>
        <p:nvSpPr>
          <p:cNvPr id="32" name="Google Shape;253;p5"/>
          <p:cNvSpPr txBox="1"/>
          <p:nvPr/>
        </p:nvSpPr>
        <p:spPr>
          <a:xfrm>
            <a:off x="8541328" y="4551218"/>
            <a:ext cx="2770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9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/>
          <p:nvPr/>
        </p:nvSpPr>
        <p:spPr>
          <a:xfrm>
            <a:off x="-680684" y="1049286"/>
            <a:ext cx="3375600" cy="3375600"/>
          </a:xfrm>
          <a:prstGeom prst="arc">
            <a:avLst>
              <a:gd name="adj1" fmla="val 16237285"/>
              <a:gd name="adj2" fmla="val 5401866"/>
            </a:avLst>
          </a:prstGeom>
          <a:solidFill>
            <a:schemeClr val="tx2"/>
          </a:solidFill>
          <a:ln w="1143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774940" y="1078909"/>
            <a:ext cx="756300" cy="756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1774940" y="1328574"/>
            <a:ext cx="7533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3000" b="1" i="0" u="none" strike="noStrike" cap="none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2309251" y="2973027"/>
            <a:ext cx="756300" cy="756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2312251" y="3251779"/>
            <a:ext cx="7533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3000" b="1" i="0" u="none" strike="noStrike" cap="none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2253658" y="1928620"/>
            <a:ext cx="756300" cy="756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2267904" y="2209172"/>
            <a:ext cx="7533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3000" b="1" i="0" u="none" strike="noStrike" cap="none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4" name="Google Shape;284;p9"/>
          <p:cNvSpPr txBox="1">
            <a:spLocks noGrp="1"/>
          </p:cNvSpPr>
          <p:nvPr>
            <p:ph type="title"/>
          </p:nvPr>
        </p:nvSpPr>
        <p:spPr>
          <a:xfrm>
            <a:off x="978811" y="38935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Dataset Description</a:t>
            </a:r>
            <a:endParaRPr dirty="0"/>
          </a:p>
        </p:txBody>
      </p:sp>
      <p:sp>
        <p:nvSpPr>
          <p:cNvPr id="285" name="Google Shape;285;p9"/>
          <p:cNvSpPr txBox="1"/>
          <p:nvPr/>
        </p:nvSpPr>
        <p:spPr>
          <a:xfrm>
            <a:off x="2986140" y="1270193"/>
            <a:ext cx="2852353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Age, Sex, Locality, Lifestyle</a:t>
            </a:r>
            <a:endParaRPr b="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2861653" y="1123367"/>
            <a:ext cx="1550664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Demographics</a:t>
            </a:r>
            <a:endParaRPr sz="1400" b="1" i="0" u="none" strike="noStrike" cap="none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7" name="Google Shape;287;p9"/>
          <p:cNvSpPr/>
          <p:nvPr/>
        </p:nvSpPr>
        <p:spPr>
          <a:xfrm rot="10800000">
            <a:off x="-125057" y="1503764"/>
            <a:ext cx="2261100" cy="2261100"/>
          </a:xfrm>
          <a:prstGeom prst="pie">
            <a:avLst>
              <a:gd name="adj1" fmla="val 5376899"/>
              <a:gd name="adj2" fmla="val 1620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9"/>
          <p:cNvGrpSpPr/>
          <p:nvPr/>
        </p:nvGrpSpPr>
        <p:grpSpPr>
          <a:xfrm>
            <a:off x="3127570" y="1889549"/>
            <a:ext cx="4335883" cy="780795"/>
            <a:chOff x="6148030" y="4491891"/>
            <a:chExt cx="2018473" cy="655596"/>
          </a:xfrm>
        </p:grpSpPr>
        <p:sp>
          <p:nvSpPr>
            <p:cNvPr id="289" name="Google Shape;289;p9"/>
            <p:cNvSpPr txBox="1"/>
            <p:nvPr/>
          </p:nvSpPr>
          <p:spPr>
            <a:xfrm>
              <a:off x="6246956" y="4690887"/>
              <a:ext cx="1919547" cy="45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0" i="0" u="none" strike="noStrike" cap="none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Family History, Allergies, Depression, Hypertension</a:t>
              </a:r>
              <a:endParaRPr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90" name="Google Shape;290;p9"/>
            <p:cNvSpPr txBox="1"/>
            <p:nvPr/>
          </p:nvSpPr>
          <p:spPr>
            <a:xfrm>
              <a:off x="6148030" y="4491891"/>
              <a:ext cx="16104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 i="0" u="none" strike="noStrike" cap="none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Medical History</a:t>
              </a:r>
              <a:endParaRPr sz="140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91" name="Google Shape;291;p9"/>
          <p:cNvGrpSpPr/>
          <p:nvPr/>
        </p:nvGrpSpPr>
        <p:grpSpPr>
          <a:xfrm>
            <a:off x="3340075" y="2773406"/>
            <a:ext cx="4545575" cy="1095941"/>
            <a:chOff x="6264246" y="4455695"/>
            <a:chExt cx="2451774" cy="568487"/>
          </a:xfrm>
        </p:grpSpPr>
        <p:sp>
          <p:nvSpPr>
            <p:cNvPr id="292" name="Google Shape;292;p9"/>
            <p:cNvSpPr txBox="1"/>
            <p:nvPr/>
          </p:nvSpPr>
          <p:spPr>
            <a:xfrm>
              <a:off x="6319046" y="4506382"/>
              <a:ext cx="2396974" cy="5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0" i="0" u="none" strike="noStrike" cap="none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Blood Pressure, Cholesterol, Fasting Blood Sugar, Maximum Heart Rate, Electrocardiogram Results</a:t>
              </a:r>
              <a:endParaRPr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93" name="Google Shape;293;p9"/>
            <p:cNvSpPr txBox="1"/>
            <p:nvPr/>
          </p:nvSpPr>
          <p:spPr>
            <a:xfrm>
              <a:off x="6264246" y="4455695"/>
              <a:ext cx="16104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 i="0" u="none" strike="noStrike" cap="none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Clinical Measurements</a:t>
              </a:r>
              <a:endParaRPr sz="140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94" name="Google Shape;294;p9"/>
          <p:cNvSpPr/>
          <p:nvPr/>
        </p:nvSpPr>
        <p:spPr>
          <a:xfrm>
            <a:off x="1461752" y="3841192"/>
            <a:ext cx="756300" cy="756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1480555" y="4095252"/>
            <a:ext cx="7533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3000" b="1" i="0" u="none" strike="noStrike" cap="none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96" name="Google Shape;296;p9"/>
          <p:cNvGrpSpPr/>
          <p:nvPr/>
        </p:nvGrpSpPr>
        <p:grpSpPr>
          <a:xfrm>
            <a:off x="276882" y="3864932"/>
            <a:ext cx="7466371" cy="1045880"/>
            <a:chOff x="5955592" y="4485933"/>
            <a:chExt cx="2489503" cy="611554"/>
          </a:xfrm>
        </p:grpSpPr>
        <p:sp>
          <p:nvSpPr>
            <p:cNvPr id="297" name="Google Shape;297;p9"/>
            <p:cNvSpPr txBox="1"/>
            <p:nvPr/>
          </p:nvSpPr>
          <p:spPr>
            <a:xfrm>
              <a:off x="6727585" y="4579687"/>
              <a:ext cx="1717510" cy="5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0" i="0" u="none" strike="noStrike" cap="none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    Blood Pressure, Chest Pain Type, Exercise Angina, ST</a:t>
              </a:r>
              <a:br>
                <a:rPr lang="en" b="0" i="0" u="none" strike="noStrike" cap="none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</a:br>
              <a:r>
                <a:rPr lang="en" b="0" i="0" u="none" strike="noStrike" cap="none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Depression, Slope of ST, Number of Vessels Fluro, Thallium</a:t>
              </a:r>
              <a:endParaRPr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98" name="Google Shape;298;p9"/>
            <p:cNvSpPr txBox="1"/>
            <p:nvPr/>
          </p:nvSpPr>
          <p:spPr>
            <a:xfrm>
              <a:off x="5955592" y="4485933"/>
              <a:ext cx="16104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 i="0" u="none" strike="noStrike" cap="none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Heart-Specific Factors</a:t>
              </a:r>
              <a:endParaRPr sz="140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31" name="Google Shape;253;p5"/>
          <p:cNvSpPr txBox="1"/>
          <p:nvPr/>
        </p:nvSpPr>
        <p:spPr>
          <a:xfrm>
            <a:off x="8333509" y="4551218"/>
            <a:ext cx="4849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6201990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10"/>
          <p:cNvGrpSpPr/>
          <p:nvPr/>
        </p:nvGrpSpPr>
        <p:grpSpPr>
          <a:xfrm>
            <a:off x="2460725" y="1483975"/>
            <a:ext cx="1438050" cy="2904750"/>
            <a:chOff x="2460725" y="1483975"/>
            <a:chExt cx="1438050" cy="2904750"/>
          </a:xfrm>
        </p:grpSpPr>
        <p:sp>
          <p:nvSpPr>
            <p:cNvPr id="307" name="Google Shape;307;p10"/>
            <p:cNvSpPr txBox="1"/>
            <p:nvPr/>
          </p:nvSpPr>
          <p:spPr>
            <a:xfrm>
              <a:off x="3145475" y="1483975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06</a:t>
              </a:r>
              <a:endParaRPr sz="3000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08" name="Google Shape;308;p10"/>
            <p:cNvSpPr txBox="1"/>
            <p:nvPr/>
          </p:nvSpPr>
          <p:spPr>
            <a:xfrm>
              <a:off x="2460725" y="2824163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05</a:t>
              </a:r>
              <a:endParaRPr sz="3000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09" name="Google Shape;309;p10"/>
            <p:cNvSpPr txBox="1"/>
            <p:nvPr/>
          </p:nvSpPr>
          <p:spPr>
            <a:xfrm>
              <a:off x="3145475" y="4164325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04</a:t>
              </a:r>
              <a:endParaRPr sz="3000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10" name="Google Shape;310;p10"/>
          <p:cNvGrpSpPr/>
          <p:nvPr/>
        </p:nvGrpSpPr>
        <p:grpSpPr>
          <a:xfrm>
            <a:off x="407302" y="1902768"/>
            <a:ext cx="769699" cy="2067189"/>
            <a:chOff x="438895" y="1684202"/>
            <a:chExt cx="769699" cy="2067189"/>
          </a:xfrm>
        </p:grpSpPr>
        <p:sp>
          <p:nvSpPr>
            <p:cNvPr id="311" name="Google Shape;311;p10"/>
            <p:cNvSpPr txBox="1"/>
            <p:nvPr/>
          </p:nvSpPr>
          <p:spPr>
            <a:xfrm>
              <a:off x="455294" y="1684202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30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12" name="Google Shape;312;p10"/>
            <p:cNvSpPr txBox="1"/>
            <p:nvPr/>
          </p:nvSpPr>
          <p:spPr>
            <a:xfrm>
              <a:off x="438895" y="3526991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30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13" name="Google Shape;313;p10"/>
            <p:cNvSpPr txBox="1"/>
            <p:nvPr/>
          </p:nvSpPr>
          <p:spPr>
            <a:xfrm>
              <a:off x="438895" y="2567432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30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314" name="Google Shape;314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Features Selection</a:t>
            </a:r>
            <a:endParaRPr dirty="0"/>
          </a:p>
        </p:txBody>
      </p:sp>
      <p:sp>
        <p:nvSpPr>
          <p:cNvPr id="315" name="Google Shape;315;p10"/>
          <p:cNvSpPr txBox="1"/>
          <p:nvPr/>
        </p:nvSpPr>
        <p:spPr>
          <a:xfrm>
            <a:off x="1154746" y="1810003"/>
            <a:ext cx="3669809" cy="246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Statistical Tests:</a:t>
            </a:r>
            <a:b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Chi-square tests for categorical features.</a:t>
            </a:r>
            <a:b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T-tests for continuous features.</a:t>
            </a:r>
            <a:b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b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12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Correlation Analysis: 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Correlation matrices to assess relationships with target variables (Heart Disease, Heart Failure).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Multicollinearity Evaluation:</a:t>
            </a:r>
            <a:b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Features with high multicollinearity were carefully assessed to avoid redundancy.</a:t>
            </a:r>
            <a:endParaRPr sz="1200" b="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1177000" y="1030875"/>
            <a:ext cx="1905635" cy="6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Steps Involved:</a:t>
            </a:r>
            <a:endParaRPr sz="14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5261456" y="4525816"/>
            <a:ext cx="3487689" cy="28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Figure 8: Feature Selection Process Flowchart</a:t>
            </a:r>
            <a:endParaRPr sz="1100" b="0" i="0" u="none" strike="noStrike" cap="none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032" y="1080655"/>
            <a:ext cx="3392146" cy="3210109"/>
          </a:xfrm>
          <a:prstGeom prst="rect">
            <a:avLst/>
          </a:prstGeom>
        </p:spPr>
      </p:pic>
      <p:sp>
        <p:nvSpPr>
          <p:cNvPr id="17" name="Google Shape;253;p5"/>
          <p:cNvSpPr txBox="1"/>
          <p:nvPr/>
        </p:nvSpPr>
        <p:spPr>
          <a:xfrm>
            <a:off x="8333509" y="4669296"/>
            <a:ext cx="4849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11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49"/>
          <p:cNvGrpSpPr/>
          <p:nvPr/>
        </p:nvGrpSpPr>
        <p:grpSpPr>
          <a:xfrm>
            <a:off x="2460725" y="1483975"/>
            <a:ext cx="1438050" cy="2904750"/>
            <a:chOff x="2460725" y="1483975"/>
            <a:chExt cx="1438050" cy="2904750"/>
          </a:xfrm>
        </p:grpSpPr>
        <p:sp>
          <p:nvSpPr>
            <p:cNvPr id="325" name="Google Shape;325;p49"/>
            <p:cNvSpPr txBox="1"/>
            <p:nvPr/>
          </p:nvSpPr>
          <p:spPr>
            <a:xfrm>
              <a:off x="3145475" y="1483975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06</a:t>
              </a:r>
              <a:endParaRPr sz="3000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26" name="Google Shape;326;p49"/>
            <p:cNvSpPr txBox="1"/>
            <p:nvPr/>
          </p:nvSpPr>
          <p:spPr>
            <a:xfrm>
              <a:off x="2460725" y="2824163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05</a:t>
              </a:r>
              <a:endParaRPr sz="3000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27" name="Google Shape;327;p49"/>
            <p:cNvSpPr txBox="1"/>
            <p:nvPr/>
          </p:nvSpPr>
          <p:spPr>
            <a:xfrm>
              <a:off x="3145475" y="4164325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04</a:t>
              </a:r>
              <a:endParaRPr sz="3000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28" name="Google Shape;328;p49"/>
          <p:cNvGrpSpPr/>
          <p:nvPr/>
        </p:nvGrpSpPr>
        <p:grpSpPr>
          <a:xfrm>
            <a:off x="717800" y="2285253"/>
            <a:ext cx="69379" cy="916816"/>
            <a:chOff x="438895" y="1684202"/>
            <a:chExt cx="769699" cy="2067189"/>
          </a:xfrm>
        </p:grpSpPr>
        <p:sp>
          <p:nvSpPr>
            <p:cNvPr id="329" name="Google Shape;329;p49"/>
            <p:cNvSpPr txBox="1"/>
            <p:nvPr/>
          </p:nvSpPr>
          <p:spPr>
            <a:xfrm>
              <a:off x="455292" y="1684202"/>
              <a:ext cx="753302" cy="224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30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30" name="Google Shape;330;p49"/>
            <p:cNvSpPr txBox="1"/>
            <p:nvPr/>
          </p:nvSpPr>
          <p:spPr>
            <a:xfrm>
              <a:off x="438895" y="3526991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30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31" name="Google Shape;331;p49"/>
            <p:cNvSpPr txBox="1"/>
            <p:nvPr/>
          </p:nvSpPr>
          <p:spPr>
            <a:xfrm>
              <a:off x="438895" y="2567432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30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332" name="Google Shape;332;p4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Model Training</a:t>
            </a:r>
            <a:endParaRPr/>
          </a:p>
        </p:txBody>
      </p:sp>
      <p:sp>
        <p:nvSpPr>
          <p:cNvPr id="333" name="Google Shape;333;p49"/>
          <p:cNvSpPr txBox="1"/>
          <p:nvPr/>
        </p:nvSpPr>
        <p:spPr>
          <a:xfrm>
            <a:off x="1002470" y="1819522"/>
            <a:ext cx="3669809" cy="3058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Logistic Regression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K-Nearest Neighbors (KNN)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Gaussian Naive Bayes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Random Forest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Bagging Decision Trees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Hard Voting Classifier</a:t>
            </a: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" name="Google Shape;334;p49"/>
          <p:cNvSpPr txBox="1"/>
          <p:nvPr/>
        </p:nvSpPr>
        <p:spPr>
          <a:xfrm>
            <a:off x="832619" y="1085865"/>
            <a:ext cx="1899199" cy="6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Models Trained:</a:t>
            </a:r>
            <a:endParaRPr sz="1400" b="1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35" name="Google Shape;335;p49"/>
          <p:cNvGrpSpPr/>
          <p:nvPr/>
        </p:nvGrpSpPr>
        <p:grpSpPr>
          <a:xfrm>
            <a:off x="571630" y="3528119"/>
            <a:ext cx="360239" cy="916816"/>
            <a:chOff x="438895" y="1684202"/>
            <a:chExt cx="769699" cy="2067189"/>
          </a:xfrm>
        </p:grpSpPr>
        <p:sp>
          <p:nvSpPr>
            <p:cNvPr id="336" name="Google Shape;336;p49"/>
            <p:cNvSpPr txBox="1"/>
            <p:nvPr/>
          </p:nvSpPr>
          <p:spPr>
            <a:xfrm>
              <a:off x="455294" y="1684202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30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37" name="Google Shape;337;p49"/>
            <p:cNvSpPr txBox="1"/>
            <p:nvPr/>
          </p:nvSpPr>
          <p:spPr>
            <a:xfrm>
              <a:off x="438895" y="3526991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sz="30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38" name="Google Shape;338;p49"/>
            <p:cNvSpPr txBox="1"/>
            <p:nvPr/>
          </p:nvSpPr>
          <p:spPr>
            <a:xfrm>
              <a:off x="438895" y="2567432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 b="1" i="0" u="none" strike="noStrike" cap="none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30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339" name="Google Shape;339;p49"/>
          <p:cNvSpPr txBox="1"/>
          <p:nvPr/>
        </p:nvSpPr>
        <p:spPr>
          <a:xfrm>
            <a:off x="5085936" y="791188"/>
            <a:ext cx="3120200" cy="2526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Performance Evaluation: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Models assessed for accuracy using the ROC (Receiver Operating Characteristic) curve.</a:t>
            </a:r>
            <a:endParaRPr sz="1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" name="Google Shape;253;p5"/>
          <p:cNvSpPr txBox="1"/>
          <p:nvPr/>
        </p:nvSpPr>
        <p:spPr>
          <a:xfrm>
            <a:off x="8333509" y="4551218"/>
            <a:ext cx="4849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12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51;p5"/>
          <p:cNvSpPr txBox="1">
            <a:spLocks noGrp="1"/>
          </p:cNvSpPr>
          <p:nvPr>
            <p:ph type="title"/>
          </p:nvPr>
        </p:nvSpPr>
        <p:spPr>
          <a:xfrm>
            <a:off x="1175919" y="1893583"/>
            <a:ext cx="6953196" cy="127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200" dirty="0">
                <a:solidFill>
                  <a:srgbClr val="003BA3"/>
                </a:solidFill>
              </a:rPr>
              <a:t>Results &amp; Discussion</a:t>
            </a:r>
            <a:endParaRPr sz="4200" dirty="0">
              <a:solidFill>
                <a:srgbClr val="003BA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539734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"/>
          <p:cNvSpPr txBox="1">
            <a:spLocks noGrp="1"/>
          </p:cNvSpPr>
          <p:nvPr>
            <p:ph type="title"/>
          </p:nvPr>
        </p:nvSpPr>
        <p:spPr>
          <a:xfrm>
            <a:off x="842491" y="95404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Key Findings and Insights</a:t>
            </a:r>
            <a:endParaRPr dirty="0"/>
          </a:p>
        </p:txBody>
      </p:sp>
      <p:sp>
        <p:nvSpPr>
          <p:cNvPr id="354" name="Google Shape;354;p12"/>
          <p:cNvSpPr txBox="1"/>
          <p:nvPr/>
        </p:nvSpPr>
        <p:spPr>
          <a:xfrm>
            <a:off x="813572" y="761613"/>
            <a:ext cx="2398046" cy="4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Exploratory Data Analysis</a:t>
            </a:r>
            <a:endParaRPr sz="13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7170" name="Picture 2" descr="https://lh7-rt.googleusercontent.com/docsz/AD_4nXe2dm54NgHZX-IGrn8tywxNEQQPik4Fo4Chvuydmmn6BFLR6JRhJgjukEPhSgBlEN6rdIbWqCGZncCCUcCebOIoY0qWZC6ZfqF7mMUL3XJay2dupTdnoN3iJpdEoRL-0wl6uudylA?key=CR9qYHD_zcelV3_7zVNGo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27" y="1195870"/>
            <a:ext cx="3412713" cy="2572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lh7-rt.googleusercontent.com/docsz/AD_4nXefyVkpdp2Xmj2Y4hFJLjhygMPI7xWTEOqKUtnCLjbFmu3avUScs-KjYiqKZX05xZyW9nF93iIIIT2g72NASI17Vl2AS65uS24ASkZHmwXSW7lphm1gl9rPOQt6IxaGwcpMs_a5hQ?key=CR9qYHD_zcelV3_7zVNGo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074" y="1198243"/>
            <a:ext cx="3924127" cy="2431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02123" y="1126229"/>
            <a:ext cx="456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0542" y="1126229"/>
            <a:ext cx="33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1755" y="3967021"/>
            <a:ext cx="34989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Highest Risk Group: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Peak incidence is in the 55-60 age group, with an average patient age of 54.</a:t>
            </a:r>
          </a:p>
          <a:p>
            <a:pPr algn="just"/>
            <a:endParaRPr lang="en-US" sz="1200" dirty="0">
              <a:latin typeface="Fira Sans" panose="020B0604020202020204" charset="0"/>
              <a:cs typeface="Fira Sans" panose="020B0604020202020204" charset="0"/>
            </a:endParaRPr>
          </a:p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Contributing Factors: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Aging, high blood pressure, diabetes, and poor lifestyle habits.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95455" y="3856184"/>
            <a:ext cx="32350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Gender Distribution: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Males constitute 70% and females 30% of the study population.</a:t>
            </a:r>
          </a:p>
          <a:p>
            <a:pPr algn="just"/>
            <a:endParaRPr lang="en-US" sz="1200" b="1" dirty="0">
              <a:latin typeface="Fira Sans" panose="020B0604020202020204" charset="0"/>
              <a:cs typeface="Fira Sans" panose="020B0604020202020204" charset="0"/>
            </a:endParaRPr>
          </a:p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Heart Failure Prevalence: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Nearly 175 males and 85 females are affected, highlighting a higher prevalence in males.</a:t>
            </a:r>
          </a:p>
        </p:txBody>
      </p:sp>
      <p:sp>
        <p:nvSpPr>
          <p:cNvPr id="26" name="Google Shape;253;p5"/>
          <p:cNvSpPr txBox="1"/>
          <p:nvPr/>
        </p:nvSpPr>
        <p:spPr>
          <a:xfrm>
            <a:off x="8550691" y="4674948"/>
            <a:ext cx="4849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13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6229926" y="3627622"/>
            <a:ext cx="148630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i="1" dirty="0">
                <a:solidFill>
                  <a:srgbClr val="44546A"/>
                </a:solidFill>
                <a:latin typeface="Times New Roman" panose="02020603050405020304" pitchFamily="18" charset="0"/>
              </a:rPr>
              <a:t>Figure 10: EDA of  Gender </a:t>
            </a:r>
            <a:endParaRPr lang="en-US" sz="900" dirty="0"/>
          </a:p>
        </p:txBody>
      </p:sp>
      <p:sp>
        <p:nvSpPr>
          <p:cNvPr id="28" name="Rectangle 27"/>
          <p:cNvSpPr/>
          <p:nvPr/>
        </p:nvSpPr>
        <p:spPr>
          <a:xfrm>
            <a:off x="2012595" y="3768805"/>
            <a:ext cx="126188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i="1" dirty="0">
                <a:solidFill>
                  <a:srgbClr val="44546A"/>
                </a:solidFill>
                <a:latin typeface="Times New Roman" panose="02020603050405020304" pitchFamily="18" charset="0"/>
              </a:rPr>
              <a:t>Figure 9 : EDA of Age 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91446350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"/>
          <p:cNvSpPr txBox="1">
            <a:spLocks noGrp="1"/>
          </p:cNvSpPr>
          <p:nvPr>
            <p:ph type="title"/>
          </p:nvPr>
        </p:nvSpPr>
        <p:spPr>
          <a:xfrm>
            <a:off x="717900" y="127585"/>
            <a:ext cx="7708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Key Findings and Insights</a:t>
            </a:r>
            <a:endParaRPr dirty="0"/>
          </a:p>
        </p:txBody>
      </p:sp>
      <p:sp>
        <p:nvSpPr>
          <p:cNvPr id="354" name="Google Shape;354;p12"/>
          <p:cNvSpPr txBox="1"/>
          <p:nvPr/>
        </p:nvSpPr>
        <p:spPr>
          <a:xfrm>
            <a:off x="813572" y="761613"/>
            <a:ext cx="2398046" cy="4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Exploratory Data Analysis</a:t>
            </a:r>
            <a:endParaRPr sz="13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123" y="1126229"/>
            <a:ext cx="456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5455" y="1126229"/>
            <a:ext cx="33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165" y="4078480"/>
            <a:ext cx="42464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Distribution: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About 181 patients (67%) did not report exercise-induced angina, while 89 patients (33%) experienced it.</a:t>
            </a:r>
          </a:p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Observation: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Although less prevalent, exercise angina remains a significant condition in heart failure patients.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47202" y="3991890"/>
            <a:ext cx="323503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Max HR Range: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Most patients have a Max HR between 130 and 170 bpm, with a median around 150 bpm.</a:t>
            </a:r>
          </a:p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Peak Frequency: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The highest frequency is observed between 150 and 160 bpm.</a:t>
            </a:r>
          </a:p>
        </p:txBody>
      </p:sp>
      <p:pic>
        <p:nvPicPr>
          <p:cNvPr id="9220" name="Picture 4" descr="https://lh7-rt.googleusercontent.com/docsz/AD_4nXchQ2V4m0YYSJlPYcIfyR9GkXVnP79k4pQyweR3-Ran_xuFUbs5544vuMOJYfDoyszlzygJmE59Hy1kgr5adyOJQ9duizkhOBoAI-QNsIfhJHdFcusKhEypnv2BHiaVJcBSutFK?key=CR9qYHD_zcelV3_7zVNGo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9" t="5369"/>
          <a:stretch/>
        </p:blipFill>
        <p:spPr bwMode="auto">
          <a:xfrm>
            <a:off x="5610680" y="1052868"/>
            <a:ext cx="2508083" cy="283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https://lh7-rt.googleusercontent.com/docsz/AD_4nXeH7RoCOpwc31NZS1cXvPlUsho3uGdIbKux729u_I0PLAyr8PwtUCH9q2io80UeYaftbfFr97fg8QqqnqSXPhSftK-MGv1m8QkPCeorBFy5PRy5a5g0-zeiaC-8aQoXJc0D_bx5Ng?key=CR9qYHD_zcelV3_7zVNGo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22" t="6376"/>
          <a:stretch/>
        </p:blipFill>
        <p:spPr bwMode="auto">
          <a:xfrm>
            <a:off x="1270167" y="1030661"/>
            <a:ext cx="2516415" cy="279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253;p5"/>
          <p:cNvSpPr txBox="1"/>
          <p:nvPr/>
        </p:nvSpPr>
        <p:spPr>
          <a:xfrm>
            <a:off x="8426100" y="4674948"/>
            <a:ext cx="4849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14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1597919" y="3767944"/>
            <a:ext cx="192873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i="1" dirty="0">
                <a:solidFill>
                  <a:srgbClr val="44546A"/>
                </a:solidFill>
                <a:latin typeface="Times New Roman" panose="02020603050405020304" pitchFamily="18" charset="0"/>
              </a:rPr>
              <a:t>Figure 11 : EDA of  Exercise Angina </a:t>
            </a:r>
            <a:endParaRPr lang="en-US" sz="900" dirty="0"/>
          </a:p>
        </p:txBody>
      </p:sp>
      <p:sp>
        <p:nvSpPr>
          <p:cNvPr id="18" name="Rectangle 17"/>
          <p:cNvSpPr/>
          <p:nvPr/>
        </p:nvSpPr>
        <p:spPr>
          <a:xfrm>
            <a:off x="6181382" y="3822209"/>
            <a:ext cx="152798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i="1" dirty="0">
                <a:solidFill>
                  <a:srgbClr val="44546A"/>
                </a:solidFill>
                <a:latin typeface="Times New Roman" panose="02020603050405020304" pitchFamily="18" charset="0"/>
              </a:rPr>
              <a:t>Figure 12 : EDA of Max HR 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72567315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"/>
          <p:cNvSpPr txBox="1">
            <a:spLocks noGrp="1"/>
          </p:cNvSpPr>
          <p:nvPr>
            <p:ph type="title"/>
          </p:nvPr>
        </p:nvSpPr>
        <p:spPr>
          <a:xfrm>
            <a:off x="717900" y="46264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Key Findings and Insights</a:t>
            </a:r>
            <a:endParaRPr dirty="0"/>
          </a:p>
        </p:txBody>
      </p:sp>
      <p:sp>
        <p:nvSpPr>
          <p:cNvPr id="354" name="Google Shape;354;p12"/>
          <p:cNvSpPr txBox="1"/>
          <p:nvPr/>
        </p:nvSpPr>
        <p:spPr>
          <a:xfrm>
            <a:off x="717900" y="618964"/>
            <a:ext cx="2398046" cy="4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Exploratory Data Analysis</a:t>
            </a:r>
            <a:endParaRPr sz="11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6" name="Google Shape;356;p12"/>
          <p:cNvSpPr txBox="1"/>
          <p:nvPr/>
        </p:nvSpPr>
        <p:spPr>
          <a:xfrm>
            <a:off x="8686801" y="4759523"/>
            <a:ext cx="39485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58369" y="1126229"/>
            <a:ext cx="456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6092" y="1126229"/>
            <a:ext cx="33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685" y="3758505"/>
            <a:ext cx="390626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ST Depression Range: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Most patients exhibit ST depression levels between 0 and 1, indicating mild ST depression is common.</a:t>
            </a:r>
          </a:p>
          <a:p>
            <a:pPr algn="just"/>
            <a:endParaRPr lang="en-US" sz="1200" dirty="0">
              <a:latin typeface="Fira Sans" panose="020B0604020202020204" charset="0"/>
              <a:cs typeface="Fira Sans" panose="020B0604020202020204" charset="0"/>
            </a:endParaRPr>
          </a:p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Trend: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Low to moderate ST depression levels in heart failure patients may reflect underlying ischemic conditions affecting cardiac function.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96092" y="3758505"/>
            <a:ext cx="38504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Distribution: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A majority of patients (~160) have 0 major vessels with fluoroscopy, indicating severe cardiac blockage.</a:t>
            </a:r>
          </a:p>
          <a:p>
            <a:endParaRPr lang="en-US" sz="1200" dirty="0">
              <a:latin typeface="Fira Sans" panose="020B0604020202020204" charset="0"/>
              <a:cs typeface="Fira Sans" panose="020B0604020202020204" charset="0"/>
            </a:endParaRPr>
          </a:p>
          <a:p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Progressive Decline: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Fewer patients have 1, 2, or 3 major vessels, showing a decreasing trend as the number of open vessels increases.</a:t>
            </a:r>
          </a:p>
        </p:txBody>
      </p:sp>
      <p:pic>
        <p:nvPicPr>
          <p:cNvPr id="10242" name="Picture 2" descr="https://lh7-rt.googleusercontent.com/docsz/AD_4nXfnAUXomoieR2eUTTO4e5tW825ebBCMcTuMEL94Ef-3dqshVrpph1f4MhD2un5_dmAn9dzAmacw5zkmnyLc52jPhnzFxcOByfyEU6U7rNya1KHAmA2CXdbnrJBf4Gm2zLdv1smr3w?key=CR9qYHD_zcelV3_7zVNGo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83" t="7726"/>
          <a:stretch/>
        </p:blipFill>
        <p:spPr bwMode="auto">
          <a:xfrm>
            <a:off x="1384312" y="916259"/>
            <a:ext cx="2352505" cy="261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C:\Users\USER\AppData\Local\Microsoft\Windows\Clipboard\HistoryData\{C27EAB55-0DD2-4B34-A0EB-0BFD5BAC603C}\{5AC567AB-7815-4658-B559-BA9426A456F8}\ResourceMap\{5FCEF54D-AB65-48E9-A1DE-A9F9C6B55F18}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2" t="6310" b="1445"/>
          <a:stretch/>
        </p:blipFill>
        <p:spPr bwMode="auto">
          <a:xfrm>
            <a:off x="5889914" y="940947"/>
            <a:ext cx="2430320" cy="265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1741627" y="3596160"/>
            <a:ext cx="18453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i="1" dirty="0">
                <a:solidFill>
                  <a:srgbClr val="44546A"/>
                </a:solidFill>
                <a:latin typeface="Times New Roman" panose="02020603050405020304" pitchFamily="18" charset="0"/>
              </a:rPr>
              <a:t>Figure 13 : EDA of  ST Depression </a:t>
            </a:r>
            <a:endParaRPr lang="en-US" sz="900" dirty="0"/>
          </a:p>
        </p:txBody>
      </p:sp>
      <p:sp>
        <p:nvSpPr>
          <p:cNvPr id="19" name="Rectangle 18"/>
          <p:cNvSpPr/>
          <p:nvPr/>
        </p:nvSpPr>
        <p:spPr>
          <a:xfrm>
            <a:off x="6054622" y="3561917"/>
            <a:ext cx="22910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i="1" dirty="0">
                <a:solidFill>
                  <a:srgbClr val="44546A"/>
                </a:solidFill>
                <a:latin typeface="Times New Roman" panose="02020603050405020304" pitchFamily="18" charset="0"/>
              </a:rPr>
              <a:t>Figure 14 : EDA of Number of Vessels </a:t>
            </a:r>
            <a:r>
              <a:rPr lang="en-US" sz="900" i="1" dirty="0" err="1">
                <a:solidFill>
                  <a:srgbClr val="44546A"/>
                </a:solidFill>
                <a:latin typeface="Times New Roman" panose="02020603050405020304" pitchFamily="18" charset="0"/>
              </a:rPr>
              <a:t>Fluro</a:t>
            </a:r>
            <a:r>
              <a:rPr lang="en-US" sz="900" i="1" dirty="0">
                <a:solidFill>
                  <a:srgbClr val="44546A"/>
                </a:solidFill>
                <a:latin typeface="Times New Roman" panose="02020603050405020304" pitchFamily="18" charset="0"/>
              </a:rPr>
              <a:t> 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27935853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25309" y="196138"/>
            <a:ext cx="7708200" cy="647700"/>
          </a:xfrm>
        </p:spPr>
        <p:txBody>
          <a:bodyPr/>
          <a:lstStyle/>
          <a:p>
            <a:pPr algn="ctr"/>
            <a:r>
              <a:rPr lang="en-US" dirty="0"/>
              <a:t>Correlation Analysis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128" y="720482"/>
            <a:ext cx="5329709" cy="4069727"/>
          </a:xfrm>
          <a:prstGeom prst="rect">
            <a:avLst/>
          </a:prstGeom>
        </p:spPr>
      </p:pic>
      <p:sp>
        <p:nvSpPr>
          <p:cNvPr id="9" name="Google Shape;253;p5"/>
          <p:cNvSpPr txBox="1"/>
          <p:nvPr/>
        </p:nvSpPr>
        <p:spPr>
          <a:xfrm>
            <a:off x="8333509" y="4551218"/>
            <a:ext cx="4849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16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280621" y="4790209"/>
            <a:ext cx="258275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</a:rPr>
              <a:t>Figure 15 : Correlation Analysis Heatmap 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023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>
            <a:spLocks noGrp="1"/>
          </p:cNvSpPr>
          <p:nvPr>
            <p:ph type="title"/>
          </p:nvPr>
        </p:nvSpPr>
        <p:spPr>
          <a:xfrm>
            <a:off x="717900" y="153367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Model Performance</a:t>
            </a:r>
            <a:endParaRPr dirty="0"/>
          </a:p>
        </p:txBody>
      </p:sp>
      <p:sp>
        <p:nvSpPr>
          <p:cNvPr id="363" name="Google Shape;363;p51"/>
          <p:cNvSpPr txBox="1"/>
          <p:nvPr/>
        </p:nvSpPr>
        <p:spPr>
          <a:xfrm>
            <a:off x="352082" y="1438714"/>
            <a:ext cx="3592549" cy="241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" sz="12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Best Model: 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Logistic Regression with the highest accuracy (0.896).</a:t>
            </a:r>
            <a:endParaRPr dirty="0"/>
          </a:p>
          <a:p>
            <a:pPr marL="171450" marR="0" lvl="0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endParaRPr sz="1200" b="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" sz="12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Other Models: 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Random Forest and Hard Voting Classifier showed strong performance (0.875 accuracy).</a:t>
            </a:r>
            <a:endParaRPr dirty="0"/>
          </a:p>
          <a:p>
            <a:pPr marL="171450" marR="0" lvl="0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endParaRPr sz="1200" b="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Moderate performance by Bagging Decision Trees (0.766) and Gaussian Naive Bayes (0.75).K-Nearest Neighbors performed the lowest (0.729 accuracy).</a:t>
            </a:r>
            <a:endParaRPr sz="1200" b="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5" name="Google Shape;365;p51"/>
          <p:cNvSpPr/>
          <p:nvPr/>
        </p:nvSpPr>
        <p:spPr>
          <a:xfrm>
            <a:off x="4076249" y="1177636"/>
            <a:ext cx="4887047" cy="319950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66" name="Google Shape;366;p51"/>
          <p:cNvSpPr/>
          <p:nvPr/>
        </p:nvSpPr>
        <p:spPr>
          <a:xfrm>
            <a:off x="5015345" y="4421124"/>
            <a:ext cx="2763983" cy="28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Figure 16: Model accuracy comparison. </a:t>
            </a:r>
            <a:endParaRPr sz="1100" b="0" i="0" u="none" strike="noStrike" cap="none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3944632" y="921327"/>
            <a:ext cx="5018664" cy="3338946"/>
          </a:xfrm>
          <a:prstGeom prst="rect">
            <a:avLst/>
          </a:prstGeom>
        </p:spPr>
      </p:pic>
      <p:sp>
        <p:nvSpPr>
          <p:cNvPr id="10" name="Google Shape;253;p5"/>
          <p:cNvSpPr txBox="1"/>
          <p:nvPr/>
        </p:nvSpPr>
        <p:spPr>
          <a:xfrm>
            <a:off x="8333509" y="4551218"/>
            <a:ext cx="4849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17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03583" y="173181"/>
            <a:ext cx="6368800" cy="601384"/>
          </a:xfrm>
        </p:spPr>
        <p:txBody>
          <a:bodyPr/>
          <a:lstStyle/>
          <a:p>
            <a:pPr algn="ctr"/>
            <a:r>
              <a:rPr lang="en-US" dirty="0"/>
              <a:t>Performance Metrics of Models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762" t="1321" r="1009" b="22041"/>
          <a:stretch/>
        </p:blipFill>
        <p:spPr>
          <a:xfrm>
            <a:off x="1427019" y="850617"/>
            <a:ext cx="5832764" cy="23497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1722" y="3562455"/>
            <a:ext cx="390626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Accuracy: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Measures the proportion of correctly classified samples.</a:t>
            </a:r>
          </a:p>
          <a:p>
            <a:pPr algn="just"/>
            <a:endParaRPr lang="en-US" sz="1200" dirty="0">
              <a:latin typeface="Fira Sans" panose="020B0604020202020204" charset="0"/>
              <a:cs typeface="Fira Sans" panose="020B0604020202020204" charset="0"/>
            </a:endParaRPr>
          </a:p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Precision: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Indicates the fraction of true positive predictions among all positive predictions.</a:t>
            </a:r>
          </a:p>
          <a:p>
            <a:pPr algn="just"/>
            <a:endParaRPr lang="en-US" sz="1200" dirty="0">
              <a:latin typeface="Fira Sans" panose="020B0604020202020204" charset="0"/>
              <a:cs typeface="Fira Sans" panose="020B0604020202020204" charset="0"/>
            </a:endParaRPr>
          </a:p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Recall: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Represents the fraction of true positive predictions among actual positive cases.</a:t>
            </a:r>
          </a:p>
          <a:p>
            <a:pPr algn="just"/>
            <a:endParaRPr lang="en-US" sz="1200" dirty="0">
              <a:latin typeface="Fira Sans" panose="020B0604020202020204" charset="0"/>
              <a:cs typeface="Fira Sans" panose="020B06040202020202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0" y="3562455"/>
            <a:ext cx="390626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F1-Score: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Harmonic mean of precision and recall, balancing the two metrics.</a:t>
            </a:r>
          </a:p>
          <a:p>
            <a:pPr algn="just"/>
            <a:endParaRPr lang="en-US" sz="1200" dirty="0">
              <a:latin typeface="Fira Sans" panose="020B0604020202020204" charset="0"/>
              <a:cs typeface="Fira Sans" panose="020B0604020202020204" charset="0"/>
            </a:endParaRPr>
          </a:p>
          <a:p>
            <a:pPr algn="just"/>
            <a:r>
              <a:rPr lang="en-US" sz="1200" b="1" dirty="0">
                <a:latin typeface="Fira Sans" panose="020B0604020202020204" charset="0"/>
                <a:cs typeface="Fira Sans" panose="020B0604020202020204" charset="0"/>
              </a:rPr>
              <a:t>ROC-AUC: </a:t>
            </a:r>
            <a:r>
              <a:rPr lang="en-US" sz="1200" dirty="0">
                <a:latin typeface="Fira Sans" panose="020B0604020202020204" charset="0"/>
                <a:cs typeface="Fira Sans" panose="020B0604020202020204" charset="0"/>
              </a:rPr>
              <a:t>Assesses the trade-off between sensitivity and specificity</a:t>
            </a:r>
          </a:p>
        </p:txBody>
      </p:sp>
      <p:sp>
        <p:nvSpPr>
          <p:cNvPr id="12" name="Google Shape;253;p5"/>
          <p:cNvSpPr txBox="1"/>
          <p:nvPr/>
        </p:nvSpPr>
        <p:spPr>
          <a:xfrm>
            <a:off x="8333509" y="4551218"/>
            <a:ext cx="4849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18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1896265" y="3250623"/>
            <a:ext cx="48942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</a:rPr>
              <a:t>Figure 17 : Performance Metrics of Models (Accuracy, Precision, Recall, F1-Score) 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947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Results</a:t>
            </a:r>
          </a:p>
        </p:txBody>
      </p:sp>
      <p:sp>
        <p:nvSpPr>
          <p:cNvPr id="8" name="Rectangle 1"/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796130" y="1327656"/>
            <a:ext cx="334010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89.58% accuracy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provides interpretability for clinical insights.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Struggles with capturing complex non-linear relationships.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Gaussian Naive Bayes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Obtained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75.00% accuracy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computationally efficient but limited by the assumption of feature independence.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K-Nearest Neighbors (KNN)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Scored the lowest accuracy (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72.92%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due to high dimensionality and sensitivity to feature scaling and irrelevant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auto">
          <a:xfrm>
            <a:off x="4900613" y="1419989"/>
            <a:ext cx="360759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Random Forest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Achieved </a:t>
            </a: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85.42% accuracy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; effectively handles non-linear relationships and provides feature importance for better insights.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Bagging Decision Trees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Reached </a:t>
            </a: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87.50% accuracy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, reducing variance through ensemble learning, slightly outperforming Random Forest.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Voting Classifier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Also achieved </a:t>
            </a: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87.50% accuracy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, combining strengths of multiple models for robust performance.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Google Shape;253;p5"/>
          <p:cNvSpPr txBox="1"/>
          <p:nvPr/>
        </p:nvSpPr>
        <p:spPr>
          <a:xfrm>
            <a:off x="8333509" y="4551218"/>
            <a:ext cx="4849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19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086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Accuracy VS. Interpretability</a:t>
            </a:r>
            <a:endParaRPr dirty="0"/>
          </a:p>
        </p:txBody>
      </p:sp>
      <p:sp>
        <p:nvSpPr>
          <p:cNvPr id="373" name="Google Shape;373;p52"/>
          <p:cNvSpPr txBox="1"/>
          <p:nvPr/>
        </p:nvSpPr>
        <p:spPr>
          <a:xfrm>
            <a:off x="483700" y="971172"/>
            <a:ext cx="3069991" cy="320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" sz="12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Logistic Regression 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is well-suited for the dataset due to </a:t>
            </a:r>
            <a:r>
              <a:rPr lang="en" sz="12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high accuracy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.</a:t>
            </a:r>
            <a:endParaRPr dirty="0"/>
          </a:p>
          <a:p>
            <a:pPr marL="171450" marR="0" lvl="0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" sz="12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Random Forest 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and </a:t>
            </a:r>
            <a:r>
              <a:rPr lang="en" sz="12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Hard Voting Classifier 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provide robust predictions with slight trade-offs in accuracy.</a:t>
            </a:r>
            <a:endParaRPr dirty="0"/>
          </a:p>
          <a:p>
            <a:pPr marL="171450" marR="0" lvl="0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" sz="1200" b="1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Lower-performing models 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may still be preferred for specific tasks prioritizing interpretability or simplicity.</a:t>
            </a:r>
            <a:endParaRPr sz="1200" b="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74" name="Google Shape;374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469" y="1242836"/>
            <a:ext cx="5140718" cy="308443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2"/>
          <p:cNvSpPr/>
          <p:nvPr/>
        </p:nvSpPr>
        <p:spPr>
          <a:xfrm>
            <a:off x="4061800" y="4465148"/>
            <a:ext cx="4631333" cy="28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Figure 18: Accuracy vs. Interpretability of Machine Learning Models</a:t>
            </a:r>
            <a:endParaRPr sz="1100" b="0" i="0" u="none" strike="noStrike" cap="none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" name="Google Shape;253;p5"/>
          <p:cNvSpPr txBox="1"/>
          <p:nvPr/>
        </p:nvSpPr>
        <p:spPr>
          <a:xfrm>
            <a:off x="8351278" y="4736122"/>
            <a:ext cx="4849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20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>
          <a:xfrm>
            <a:off x="796133" y="1210477"/>
            <a:ext cx="6761522" cy="3659396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Fira Sans" panose="020B0604020202020204" charset="0"/>
                <a:cs typeface="Fira Sans" panose="020B0604020202020204" charset="0"/>
              </a:rPr>
              <a:t>Data Imbalance: </a:t>
            </a:r>
            <a:r>
              <a:rPr lang="en-US" dirty="0">
                <a:latin typeface="Fira Sans" panose="020B0604020202020204" charset="0"/>
                <a:cs typeface="Fira Sans" panose="020B0604020202020204" charset="0"/>
              </a:rPr>
              <a:t>The dataset exhibited class imbalance, particularly in target variables like heart failure, leading to potential bias toward the majority class.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>
              <a:latin typeface="Fira Sans" panose="020B0604020202020204" charset="0"/>
              <a:cs typeface="Fira Sans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Fira Sans" panose="020B0604020202020204" charset="0"/>
                <a:cs typeface="Fira Sans" panose="020B0604020202020204" charset="0"/>
              </a:rPr>
              <a:t>Feature Completeness: </a:t>
            </a:r>
            <a:r>
              <a:rPr lang="en-US" dirty="0">
                <a:latin typeface="Fira Sans" panose="020B0604020202020204" charset="0"/>
                <a:cs typeface="Fira Sans" panose="020B0604020202020204" charset="0"/>
              </a:rPr>
              <a:t>Missing values in features such as sex and cholesterol levels required imputation, which may have introduced biases.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>
              <a:latin typeface="Fira Sans" panose="020B0604020202020204" charset="0"/>
              <a:cs typeface="Fira Sans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Fira Sans" panose="020B0604020202020204" charset="0"/>
                <a:cs typeface="Fira Sans" panose="020B0604020202020204" charset="0"/>
              </a:rPr>
              <a:t>Model Sensitivity: </a:t>
            </a:r>
            <a:r>
              <a:rPr lang="en-US" dirty="0">
                <a:latin typeface="Fira Sans" panose="020B0604020202020204" charset="0"/>
                <a:cs typeface="Fira Sans" panose="020B0604020202020204" charset="0"/>
              </a:rPr>
              <a:t>Models like KNN were sensitive to hyperparameters (e.g., number of neighbors, distance metrics), impacting performance.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>
              <a:latin typeface="Fira Sans" panose="020B0604020202020204" charset="0"/>
              <a:cs typeface="Fira Sans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Fira Sans" panose="020B0604020202020204" charset="0"/>
                <a:cs typeface="Fira Sans" panose="020B0604020202020204" charset="0"/>
              </a:rPr>
              <a:t>Interpretability vs. Complexity: </a:t>
            </a:r>
            <a:r>
              <a:rPr lang="en-US" dirty="0">
                <a:latin typeface="Fira Sans" panose="020B0604020202020204" charset="0"/>
                <a:cs typeface="Fira Sans" panose="020B0604020202020204" charset="0"/>
              </a:rPr>
              <a:t>Ensemble methods (e.g., Random Forest, Bagging Decision Trees) improved accuracy but reduced interpretability compared to simpler models.</a:t>
            </a:r>
          </a:p>
        </p:txBody>
      </p:sp>
      <p:sp>
        <p:nvSpPr>
          <p:cNvPr id="8" name="Google Shape;253;p5"/>
          <p:cNvSpPr txBox="1"/>
          <p:nvPr/>
        </p:nvSpPr>
        <p:spPr>
          <a:xfrm>
            <a:off x="8333509" y="4551218"/>
            <a:ext cx="4849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21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0214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3"/>
          <p:cNvSpPr txBox="1">
            <a:spLocks noGrp="1"/>
          </p:cNvSpPr>
          <p:nvPr>
            <p:ph type="title"/>
          </p:nvPr>
        </p:nvSpPr>
        <p:spPr>
          <a:xfrm>
            <a:off x="625309" y="81725"/>
            <a:ext cx="7708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</a:pPr>
            <a:r>
              <a:rPr lang="en" dirty="0"/>
              <a:t>Future Work</a:t>
            </a:r>
            <a:endParaRPr dirty="0"/>
          </a:p>
        </p:txBody>
      </p:sp>
      <p:sp>
        <p:nvSpPr>
          <p:cNvPr id="383" name="Google Shape;383;p53"/>
          <p:cNvSpPr txBox="1">
            <a:spLocks noGrp="1"/>
          </p:cNvSpPr>
          <p:nvPr>
            <p:ph type="subTitle" idx="4294967295"/>
          </p:nvPr>
        </p:nvSpPr>
        <p:spPr>
          <a:xfrm>
            <a:off x="321343" y="814004"/>
            <a:ext cx="8420723" cy="404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We aim to enhance our heart failure prediction models through  advanced techniques:</a:t>
            </a:r>
          </a:p>
          <a:p>
            <a:pPr algn="l"/>
            <a:endParaRPr lang="en-US" sz="14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Explore Advanced Neural Network Architectures: </a:t>
            </a:r>
            <a:r>
              <a:rPr lang="en-US" sz="1200" b="1" dirty="0">
                <a:solidFill>
                  <a:srgbClr val="7030A0"/>
                </a:solidFill>
                <a:latin typeface="Fira Sans" panose="020B0604020202020204" charset="0"/>
                <a:cs typeface="Fira Sans" panose="020B0604020202020204" charset="0"/>
              </a:rPr>
              <a:t>Utilize CNN and TabNet </a:t>
            </a:r>
            <a:r>
              <a:rPr lang="en-US" sz="12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to uncover complex patterns in data and enhance the predictive accuracy of heart failure models.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Incorporate Data Augmentation Techniques: </a:t>
            </a:r>
            <a:r>
              <a:rPr lang="en-US" sz="1200" b="1" dirty="0">
                <a:solidFill>
                  <a:srgbClr val="0432FF"/>
                </a:solidFill>
                <a:latin typeface="Fira Sans" panose="020B0604020202020204" charset="0"/>
                <a:cs typeface="Fira Sans" panose="020B0604020202020204" charset="0"/>
              </a:rPr>
              <a:t>Employ SMOTE </a:t>
            </a:r>
            <a:r>
              <a:rPr lang="en-US" sz="12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to address class imbalance and ensure consistent and robust model performance.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Implement Advanced Feature Engineering: </a:t>
            </a:r>
            <a:r>
              <a:rPr lang="en-US" sz="12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Introduce </a:t>
            </a:r>
            <a:r>
              <a:rPr lang="en-US" sz="1200" b="1" dirty="0">
                <a:solidFill>
                  <a:srgbClr val="FF40FF"/>
                </a:solidFill>
                <a:latin typeface="Fira Sans" panose="020B0604020202020204" charset="0"/>
                <a:cs typeface="Fira Sans" panose="020B0604020202020204" charset="0"/>
              </a:rPr>
              <a:t>domain-specific transformations </a:t>
            </a:r>
            <a:r>
              <a:rPr lang="en-US" sz="12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and capture non-linear relationships to improve model insights and interpretability.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Optimize Model Parameters: </a:t>
            </a:r>
            <a:r>
              <a:rPr lang="en-US" sz="12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Apply Grid Search and </a:t>
            </a:r>
            <a:r>
              <a:rPr lang="en-US" sz="1200" b="1" dirty="0">
                <a:solidFill>
                  <a:srgbClr val="00B050"/>
                </a:solidFill>
                <a:latin typeface="Fira Sans" panose="020B0604020202020204" charset="0"/>
                <a:cs typeface="Fira Sans" panose="020B0604020202020204" charset="0"/>
              </a:rPr>
              <a:t>Bayesian Optimization </a:t>
            </a:r>
            <a:r>
              <a:rPr lang="en-US" sz="12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for precise hyperparameter tuning, achieving optimal performance.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Leverage Ensemble Learning Methods: </a:t>
            </a:r>
            <a:r>
              <a:rPr lang="en-US" sz="12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Combine models like </a:t>
            </a:r>
            <a:r>
              <a:rPr lang="en-US" sz="1200" b="1" dirty="0">
                <a:solidFill>
                  <a:srgbClr val="0432FF"/>
                </a:solidFill>
                <a:latin typeface="Fira Sans" panose="020B0604020202020204" charset="0"/>
                <a:cs typeface="Fira Sans" panose="020B0604020202020204" charset="0"/>
              </a:rPr>
              <a:t>Gradient Boosting Machines </a:t>
            </a:r>
            <a:r>
              <a:rPr lang="en-US" sz="12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and meta-learners to boost prediction accuracy and reliability.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Focus on Ethical and Practical Applications: </a:t>
            </a:r>
            <a:r>
              <a:rPr lang="en-US" sz="1200" dirty="0">
                <a:solidFill>
                  <a:schemeClr val="tx1"/>
                </a:solidFill>
                <a:latin typeface="Fira Sans" panose="020B0604020202020204" charset="0"/>
                <a:cs typeface="Fira Sans" panose="020B0604020202020204" charset="0"/>
              </a:rPr>
              <a:t>Ensure fairness, transparency, and privacy in model deployment while integrating real-time applications into clinical decision support systems and telemedicine platforms for improved patient care.</a:t>
            </a:r>
            <a:endParaRPr sz="1200" dirty="0">
              <a:solidFill>
                <a:schemeClr val="tx1"/>
              </a:solidFill>
              <a:latin typeface="Fira Sans" panose="020B0604020202020204" charset="0"/>
              <a:cs typeface="Fira Sans" panose="020B0604020202020204" charset="0"/>
            </a:endParaRPr>
          </a:p>
        </p:txBody>
      </p:sp>
      <p:sp>
        <p:nvSpPr>
          <p:cNvPr id="7" name="Google Shape;253;p5"/>
          <p:cNvSpPr txBox="1"/>
          <p:nvPr/>
        </p:nvSpPr>
        <p:spPr>
          <a:xfrm>
            <a:off x="8333509" y="4705086"/>
            <a:ext cx="484909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22</a:t>
            </a:r>
            <a:endParaRPr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>
            <a:spLocks noGrp="1"/>
          </p:cNvSpPr>
          <p:nvPr>
            <p:ph type="title"/>
          </p:nvPr>
        </p:nvSpPr>
        <p:spPr>
          <a:xfrm>
            <a:off x="717900" y="153367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91" name="Google Shape;391;p54"/>
          <p:cNvSpPr txBox="1"/>
          <p:nvPr/>
        </p:nvSpPr>
        <p:spPr>
          <a:xfrm>
            <a:off x="289735" y="726067"/>
            <a:ext cx="4718683" cy="4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Chowdhury, M. N. R., E. Ahmed, M. A. D. Siddik and A. U. Zaman (2021). Heart disease prognosis using machine learning classification techniques. 2021 6th International Conference for Convergence in Technology (I2CT), IEEE.</a:t>
            </a:r>
            <a:endParaRPr/>
          </a:p>
          <a:p>
            <a:pPr marL="228600" marR="0" lvl="0" indent="-158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Ishaq, A., S. Sadiq, M. Umer, S. Ullah, S. Mirjalili, V. Rupapara and M. Nappi (2021). "Improving the prediction of heart failure patients’ survival using SMOTE and effective data mining techniques." IEEE access 9: 39707-39716.</a:t>
            </a:r>
            <a:endParaRPr/>
          </a:p>
          <a:p>
            <a:pPr marL="228600" marR="0" lvl="0" indent="-158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Mahgoub, A. (2023). "A Novel Approach to Heart Failure Prediction and Classification through Advanced Deep Learning Model." World Journal of Cardiovascular Diseases 13(9): 586-604.</a:t>
            </a:r>
            <a:endParaRPr/>
          </a:p>
          <a:p>
            <a:pPr marL="228600" marR="0" lvl="0" indent="-158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Mahmud, I., M. M. Kabir, M. F. Mridha, S. Alfarhood, M. Safran and D. Che (2023). "Cardiac Failure Forecasting Based on Clinical Data Using a Lightweight Machine Learning Metamodel." Diagnostics (Basel) 13(15).</a:t>
            </a:r>
            <a:endParaRPr/>
          </a:p>
        </p:txBody>
      </p:sp>
      <p:sp>
        <p:nvSpPr>
          <p:cNvPr id="392" name="Google Shape;392;p54"/>
          <p:cNvSpPr txBox="1"/>
          <p:nvPr/>
        </p:nvSpPr>
        <p:spPr>
          <a:xfrm>
            <a:off x="5008418" y="824580"/>
            <a:ext cx="3920835" cy="4219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5. Şahin, B. and G. İlgün (2022). "Risk factors of deaths related to cardiovascular diseases in World Health Organization (WHO) member countries." Health &amp; Social Care in the Community 30(1): 73-80.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6. Shah, D., S. Patel and S. K. Bharti (2020). "Heart disease prediction using machine learning techniques." SN Computer Science 1(6): 345.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7. Shi, T., J. Yang, N. Zhang, W. Rong, L. Gao, P. Xia, J. Zou, N. Zhu, F. Yang and L. Chen (2024). "Comparison and use of explainable machine learning-based survival models for heart failure patients." Digital Health 10: 20552076241277027.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8. Visscher, P. M., N. R. Wray, Q. Zhang, P. Sklar, M. I. McCarthy, M. A. Brown and J. Yang (2017). "10 Years of GWAS Discovery: Biology, Function, and Translation." American journal of human genetics 101(1): 5-22.</a:t>
            </a:r>
            <a:endParaRPr/>
          </a:p>
          <a:p>
            <a:pPr marL="228600" marR="0" lvl="0" indent="-158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" name="Google Shape;393;p54"/>
          <p:cNvSpPr txBox="1"/>
          <p:nvPr/>
        </p:nvSpPr>
        <p:spPr>
          <a:xfrm>
            <a:off x="8590567" y="4752109"/>
            <a:ext cx="49124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24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4"/>
          <p:cNvSpPr txBox="1">
            <a:spLocks noGrp="1"/>
          </p:cNvSpPr>
          <p:nvPr>
            <p:ph type="title"/>
          </p:nvPr>
        </p:nvSpPr>
        <p:spPr>
          <a:xfrm>
            <a:off x="2716879" y="1854137"/>
            <a:ext cx="3710242" cy="99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800" dirty="0"/>
              <a:t>Thank You</a:t>
            </a:r>
            <a:endParaRPr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anagement Consulting Toolkit by Slidesgo">
  <a:themeElements>
    <a:clrScheme name="Simple Light">
      <a:dk1>
        <a:srgbClr val="000000"/>
      </a:dk1>
      <a:lt1>
        <a:srgbClr val="FFFFFF"/>
      </a:lt1>
      <a:dk2>
        <a:srgbClr val="4A8CFF"/>
      </a:dk2>
      <a:lt2>
        <a:srgbClr val="EFEFEF"/>
      </a:lt2>
      <a:accent1>
        <a:srgbClr val="003BA3"/>
      </a:accent1>
      <a:accent2>
        <a:srgbClr val="000000"/>
      </a:accent2>
      <a:accent3>
        <a:srgbClr val="4A8CFF"/>
      </a:accent3>
      <a:accent4>
        <a:srgbClr val="EFEFEF"/>
      </a:accent4>
      <a:accent5>
        <a:srgbClr val="003BA3"/>
      </a:accent5>
      <a:accent6>
        <a:srgbClr val="000000"/>
      </a:accent6>
      <a:hlink>
        <a:srgbClr val="003B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4407</TotalTime>
  <Words>2599</Words>
  <Application>Microsoft Macintosh PowerPoint</Application>
  <PresentationFormat>On-screen Show (16:9)</PresentationFormat>
  <Paragraphs>311</Paragraphs>
  <Slides>29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Fira Sans</vt:lpstr>
      <vt:lpstr>Noto Sans Symbols</vt:lpstr>
      <vt:lpstr>Montserrat SemiBold</vt:lpstr>
      <vt:lpstr>Montserrat</vt:lpstr>
      <vt:lpstr>Quicksand Medium</vt:lpstr>
      <vt:lpstr>Times New Roman</vt:lpstr>
      <vt:lpstr>Fira Sans Extra Condensed Medium</vt:lpstr>
      <vt:lpstr>Didact Gothic</vt:lpstr>
      <vt:lpstr>Arial</vt:lpstr>
      <vt:lpstr>Wingdings</vt:lpstr>
      <vt:lpstr>Barlow</vt:lpstr>
      <vt:lpstr>Inter</vt:lpstr>
      <vt:lpstr>Management Consulting Toolkit by Slidesgo</vt:lpstr>
      <vt:lpstr>         Presentation on  “Heart Failure Prediction Using Machine Learning Models: A Comparative Study of Multiple Algorithms” [ID0132]    </vt:lpstr>
      <vt:lpstr>PowerPoint Presentation</vt:lpstr>
      <vt:lpstr>Introduction</vt:lpstr>
      <vt:lpstr>Introduction</vt:lpstr>
      <vt:lpstr>Introduction</vt:lpstr>
      <vt:lpstr>Progression of Heart Failure – From Healthy Heart to Dysfunction</vt:lpstr>
      <vt:lpstr>Biopsychosocial Model of Cardiovascular Health</vt:lpstr>
      <vt:lpstr>Insights from Existing Research</vt:lpstr>
      <vt:lpstr>Objectives</vt:lpstr>
      <vt:lpstr>Methods &amp; Materials</vt:lpstr>
      <vt:lpstr>System Design Diagram of our Research </vt:lpstr>
      <vt:lpstr>PowerPoint Presentation</vt:lpstr>
      <vt:lpstr>Dataset Collection</vt:lpstr>
      <vt:lpstr>Dataset Description</vt:lpstr>
      <vt:lpstr>Features Selection</vt:lpstr>
      <vt:lpstr>Model Training</vt:lpstr>
      <vt:lpstr>Results &amp; Discussion</vt:lpstr>
      <vt:lpstr>Key Findings and Insights</vt:lpstr>
      <vt:lpstr>Key Findings and Insights</vt:lpstr>
      <vt:lpstr>Key Findings and Insights</vt:lpstr>
      <vt:lpstr>Correlation Analysis </vt:lpstr>
      <vt:lpstr>Model Performance</vt:lpstr>
      <vt:lpstr>Performance Metrics of Models</vt:lpstr>
      <vt:lpstr>Analysis of Results</vt:lpstr>
      <vt:lpstr>Accuracy VS. Interpretability</vt:lpstr>
      <vt:lpstr>Limitations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on  “Heart Failure Prediction Using Machine Learning Models: A Comparative Study of Multiple Algorithms”</dc:title>
  <dc:creator>User</dc:creator>
  <cp:lastModifiedBy>Md Alamin</cp:lastModifiedBy>
  <cp:revision>64</cp:revision>
  <dcterms:modified xsi:type="dcterms:W3CDTF">2024-12-25T05:33:00Z</dcterms:modified>
</cp:coreProperties>
</file>